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>
      <a:defRPr sz="1800">
        <a:solidFill>
          <a:schemeClr val="tx1"/>
        </a:solidFill>
        <a:latin typeface="+mn-lt"/>
      </a:defRPr>
    </a:lvl1pPr>
    <a:lvl2pPr marL="342900" algn="l">
      <a:defRPr sz="1800">
        <a:solidFill>
          <a:schemeClr val="tx1"/>
        </a:solidFill>
        <a:latin typeface="+mn-lt"/>
      </a:defRPr>
    </a:lvl2pPr>
    <a:lvl3pPr marL="685800" algn="l">
      <a:defRPr sz="1800">
        <a:solidFill>
          <a:schemeClr val="tx1"/>
        </a:solidFill>
        <a:latin typeface="+mn-lt"/>
      </a:defRPr>
    </a:lvl3pPr>
    <a:lvl4pPr marL="1028700" algn="l">
      <a:defRPr sz="1800">
        <a:solidFill>
          <a:schemeClr val="tx1"/>
        </a:solidFill>
        <a:latin typeface="+mn-lt"/>
      </a:defRPr>
    </a:lvl4pPr>
    <a:lvl5pPr marL="1371600" algn="l">
      <a:defRPr sz="1800">
        <a:solidFill>
          <a:schemeClr val="tx1"/>
        </a:solidFill>
        <a:latin typeface="+mn-lt"/>
      </a:defRPr>
    </a:lvl5pPr>
    <a:lvl6pPr marL="1714500" algn="l">
      <a:defRPr sz="1800">
        <a:solidFill>
          <a:schemeClr val="tx1"/>
        </a:solidFill>
        <a:latin typeface="+mn-lt"/>
      </a:defRPr>
    </a:lvl6pPr>
    <a:lvl7pPr marL="2057400" algn="l">
      <a:defRPr sz="1800">
        <a:solidFill>
          <a:schemeClr val="tx1"/>
        </a:solidFill>
        <a:latin typeface="+mn-lt"/>
      </a:defRPr>
    </a:lvl7pPr>
    <a:lvl8pPr marL="2400300" algn="l">
      <a:defRPr sz="1800">
        <a:solidFill>
          <a:schemeClr val="tx1"/>
        </a:solidFill>
        <a:latin typeface="+mn-lt"/>
      </a:defRPr>
    </a:lvl8pPr>
    <a:lvl9pPr marL="2743200" algn="l">
      <a:defRPr sz="1800">
        <a:solidFill>
          <a:schemeClr val="tx1"/>
        </a:solidFill>
        <a:latin typeface="+mn-lt"/>
      </a:defRPr>
    </a:lvl9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theme" Target="theme/theme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800">
        <a:solidFill>
          <a:schemeClr val="tx1"/>
        </a:solidFill>
        <a:latin typeface="+mn-lt"/>
      </a:defRPr>
    </a:lvl1pPr>
    <a:lvl2pPr marL="342900" algn="l">
      <a:defRPr sz="1800">
        <a:solidFill>
          <a:schemeClr val="tx1"/>
        </a:solidFill>
        <a:latin typeface="+mn-lt"/>
      </a:defRPr>
    </a:lvl2pPr>
    <a:lvl3pPr marL="685800" algn="l">
      <a:defRPr sz="1800">
        <a:solidFill>
          <a:schemeClr val="tx1"/>
        </a:solidFill>
        <a:latin typeface="+mn-lt"/>
      </a:defRPr>
    </a:lvl3pPr>
    <a:lvl4pPr marL="1028700" algn="l">
      <a:defRPr sz="1800">
        <a:solidFill>
          <a:schemeClr val="tx1"/>
        </a:solidFill>
        <a:latin typeface="+mn-lt"/>
      </a:defRPr>
    </a:lvl4pPr>
    <a:lvl5pPr marL="1371600" algn="l">
      <a:defRPr sz="1800">
        <a:solidFill>
          <a:schemeClr val="tx1"/>
        </a:solidFill>
        <a:latin typeface="+mn-lt"/>
      </a:defRPr>
    </a:lvl5pPr>
    <a:lvl6pPr marL="1714500" algn="l">
      <a:defRPr sz="1800">
        <a:solidFill>
          <a:schemeClr val="tx1"/>
        </a:solidFill>
        <a:latin typeface="+mn-lt"/>
      </a:defRPr>
    </a:lvl6pPr>
    <a:lvl7pPr marL="2057400" algn="l">
      <a:defRPr sz="1800">
        <a:solidFill>
          <a:schemeClr val="tx1"/>
        </a:solidFill>
        <a:latin typeface="+mn-lt"/>
      </a:defRPr>
    </a:lvl7pPr>
    <a:lvl8pPr marL="2400300" algn="l">
      <a:defRPr sz="1800">
        <a:solidFill>
          <a:schemeClr val="tx1"/>
        </a:solidFill>
        <a:latin typeface="+mn-lt"/>
      </a:defRPr>
    </a:lvl8pPr>
    <a:lvl9pPr marL="2743200" algn="l">
      <a:defRPr sz="18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OPEN (0:00-0:30)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"Good [morning]. I'm [name], presenting for team QUOTA. Our capstone is NTG Agent, built with our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industry partner NashTech.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The one-line version: lots of organisations want an AI assistant that actually knows their own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documents and can use their own systems. Building one safely is still hard. NTG Agent is a platform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that makes it something you set up, rather than something you build from scratch.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I'll cover the problem, what already exists, how our solution works, and then show it running."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Leave this slide at 0:30. Don't read the team list out.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01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AGENDA (0:30-0:55)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Don't read the table. Just: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"Four parts and a demo — the problem, what's already out there, how ours works, then I'll show you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the real system, and finish with where we are."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Point at the callout: "I'll define the jargon as I go."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25 seconds. Move.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0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DIVIDER — 3 seconds. Don't narrate dividers.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03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THE PROBLEM (0:58-1:50)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"Getting a chatbot onto a web page is a solved problem. That's not where teams get stuck.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They get stuck on these four. The model has never read your documents, so it answers confidently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about things it doesn't know. It forgets the user the moment they close the tab. It can talk about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your systems but can't actually use them — and wiring it up is custom work for every combination of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tool and AI provider. And there's no record of who used it, or what it cost, which is usually the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thing that stops it getting approved.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NashTech had already built a first version — a working chat app with one fixed assistant, and none of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these four properties. Closing that gap is our project."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~50s. Talk over the tiles, don't read them.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04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WHAT IT DOES (1:50-2:40)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"So what is it. Six things, and they're the whole product.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You build an assistant without writing code — you name it, pick the model, write its instructions,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publish it. You give it your documents, and it answers from them and tells you which document it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used. You connect it to real tools. You let assistants hand work to each other. It can reply with a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working form rather than a paragraph. And you keep control of who uses it and what it costs.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Everything after this slide is one of these six, in more detail."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~50s. Read the six headings only — the body text is for the examiner, not the room.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05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WHO AND WHY (2:40-3:20)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"Two audiences. Administrators set assistants up. End users just chat — they never see any of the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setup, they pick an assistant and ask a question.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And the bottom box is the part I'd emphasise for NashTech. Almost everything serious in this field is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built in Python. NashTech is a Microsoft .NET consultancy and so are most of its clients. So this was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never meant to be one chatbot — it's an open-source reference they can reuse on client work and point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at as proof of what their teams can build."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~40s.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06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DIVIDER — 3 seconds.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07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KEY CONCEPTS (3:23-4:05)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Do NOT read the table. Say: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"Four terms carry the rest of the talk.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RAG just means: before answering, search your documents and hand the AI the relevant pages. That's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how it answers from your material instead of guessing.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MCP is a standard for connecting AI to tools. Think USB — before USB, every device needed its own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connector. Same idea here.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An agent is an assistant with a job, some documents and permission to use certain tools. That's the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thing administrators create.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And a skill is a prepared pack that teaches an assistant a task, and can bring a ready-made screen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with it. I'll show you one."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~42s. The USB comparison is the one people remember — use it.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08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MARKET RESEARCH (4:05-4:55)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"We compared the four best-known platforms against what NashTech actually needs.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Read it by column. LangChain and LangGraph are the most capable — and Python. AutoGen, Python.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CrewAI, Python. Semantic Kernel is the only one with a real .NET story, and it does less.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But the rows that matter are the last three. Access control: minimal, minimal, minimal, minimal.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Cost tracking: barely there. Enterprise readiness: low, low, low.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Every one of these treats permissions and cost as somebody else's problem. That's fine for a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research tool. It's not fine inside a company — and that's the gap we build into."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~50s. Trace the bottom three rows with the cursor. That's the whole argument.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09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RESEARCH TO DESIGN (4:55-5:35)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"We didn't want a literature review that sits in a document and never touches the product, so every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gap we found became a feature. Left column, the gap. Right column, what we built.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The one I'd highlight is the first. In the research, document search is almost always studied with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one assistant and one set of documents. The moment several assistants share a pool, they start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retrieving each other's material — answers get inconsistent, and information crosses boundaries it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shouldn't. Our answer is that every assistant gets its own separate knowledge base. I'll show you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that working."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~40s. Read the first row aloud, summarise the rest.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10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DIVIDER — 3 seconds.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11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ARCHITECTURE (5:38-6:20)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"At the top, the three things people actually open. The chat app, where end users ask questions.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The admin console, where assistants get set up. And a third client that can display interactive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forms and cards — I'll come back to that one.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Everything goes through one service in the middle. That's where the decision happens: which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assistant answers, which documents to search, which tools to call, and recording who asked and what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it cost.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Underneath, what it connects to. Tools. The knowledge bases — and note, one per assistant, not one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shared pool. The database. And whichever AI provider that assistant is set to use."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~42s. Keep it at this level. Don't go deeper even if asked — offer to take it in Q&amp;A.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1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BUILDING AN ASSISTANT (6:23-7:05)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"Setting one up is four steps, and all four are in a browser.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Describe it — name, instructions, and which AI model. That's the screen on the right, and you can see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the provider list open: GitHub, Azure, Google, OpenAI, Anthropic.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Feed it — upload the documents it should answer from.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Equip it — tick which tools it may use, and which specialist assistants it's allowed to ask for help.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Release it — choose who's allowed to use it, and publish.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And the point at the bottom: on most platforms, swapping the AI model or adding a tool is a developer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task and a software release. Here it's a dropdown and Save. That's what makes it usable by the people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who own the content rather than only the people who write the code."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~42s.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13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DOCUMENTS AND SOURCES (7:05-7:40)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"This is the feature I'd most want you to remember, and it's easiest to just show.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Same question on both sides — asked about a specific document. On the left, an assistant that doesn't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have it. It says so. It doesn't guess, which is the behaviour you want and the thing AI is least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reliable at.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On the right, the identical question to an assistant that does have the document. It answers, and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you can see the bracket-one — that's the source, so the reader can check where it came from.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Nothing changed but which assistant was asked. That's the separation working."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~35s. Let the images do the work. Don't read them out.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14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TOOLS AND SCREENS (7:40-8:30)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"Two features, side by side.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On the left, tools. Asked for the weather, the assistant doesn't guess — it calls a live service and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shows the result. The important part isn't weather, it's that any tool plugs in the same standard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way. And an assistant can also hand a question to a specialist assistant.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On the right is the one people react to. Asked to plan a trip, it doesn't write three paragraphs — it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replies with a form. Tabs, dates, a slider. You fill it in, submit, and the conversation carries on.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And nobody wrote a screen for that. The assistant describes what it wants and the app draws it, so a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new task doesn't need new development. That one was taught by a skill pack, uploaded once and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switched on for this assistant."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~48s. Pause on the trip planner. This is the memorable slide.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15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CONTROL (8:30-9:05)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"Last design slide, and it's the unglamorous one that decides whether a company will actually allow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this near real data.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Who may use what — each assistant is granted to specific groups, and someone without permission can't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reach it, including indirectly by asking another assistant to fetch it for them.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What it costs — every request is recorded against a user. That's the dashboard on the right, and it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includes visitors who never signed in.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Limits for the public, if an assistant is opened to the internet.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And uploaded skill packs get checked before they're accepted, and only administrators can upload them.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Remember the comparison table — this whole column was missing from every product we looked at."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~35s.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16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DIVIDER — 3 seconds. Switch inputs NOW while this is up.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17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DEMO HANDOFF (9:08-9:25) then LIVE 9:25-13:00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"Rather than talk about it any longer, let me show you. It's deployed and online, so this is the real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thing. Six steps, about four minutes, and each one is a feature I've just described."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───── PRE-FLIGHT, BEFORE YOU RECORD ─────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□ Open and sign in to every tab in advance — chat app, admin console, interactive client.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   Never sign in on camera.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□ Check the trip-planning skill is SWITCHED ON for the demo assistant (Tools → Skills → Save).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□ Check HR Lookup and Expense Lookup are bound as inner agents of the help desk —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   the Agent Dashboard should show Inner Agents = 2.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□ Check the document shows Uploaded, not Processing.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□ Start a fresh conversation so the sidebar isn't full of old trip plans.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□ Have slide 24 open in a background tab as a fallback.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───── IF SOMETHING STALLS ─────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Steps 4, 5 and 6 need a live AI response. If any of them hangs for more than about eight seconds,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say "I have this captured" and go to the slide that shows it — 14 for documents, 15 for the trip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form. Do not debug on camera.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  Step 5 is the one most likely to misbehave: the help desk has to decide to call BOTH specialists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and sometimes calls only one. Rehearse it at least three times. If it asks only one on the day,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say so and ask the follow-up out loud — recovering gracefully reads better than pretending.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  Behind schedule? Shorten step 2. Never drop step 5 or 6.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  THE SILENT FAILURE: a skill or tool that is uploaded but not switched on for this assistant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produces no error at all — the assistant just replies in plain text as if the feature didn't exist.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18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DIVIDER — 3 seconds. Breathe before you speak.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19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DELIVERED (13:00-13:25)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"Coming back from the demo — this is everything that works today. Not planned, not partial. In the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deployed system.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I won't read the list. The short version is that all six things I promised on slide 5 are working,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plus the control features.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And underneath: five hundred automated tests, two hundred and eighty-eight reviewed changes merged,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nine services running together, five AI providers."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~25s. Do NOT read the lists — gesture at them and give the four numbers.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20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PROMISED VS DELIVERED (13:25-14:00) — the slide that earns credibility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"I want to be straight about our proposal, because three of our five promises didn't land the way we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wrote them.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Better document search — done, but by adopting an existing open-source engine rather than building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our own. Less code, and it's what made a separate knowledge base per assistant practical.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Four-layer memory — half. Memory across conversations works. Two of the four layers don't exist, and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I'm not going to claim they do.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Team-working assistants — done, differently. Instead of a planner handing out tasks, we let one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assistant call another directly. Simpler, and one less thing to maintain.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The audit trail — not done. They do hand work to each other, but it isn't permanently recorded.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That's the clearest thing we didn't finish.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And the last one we overshot — we went past showing thinking to full interactive forms and uploadable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skill packs, neither of which was in scope.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Plus, at the bottom, several things we built that were never promised at all."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~35s. If asked why you changed: we followed what we learned, and we wrote it down.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21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NEXT (14:00-14:15) — compress to 10s if needed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"Briefly, what's next, in order.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The first one is the one I'd flag to an examiner. We set a target in our proposal for how often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answers stay faithful to the source documents, and we have not yet run a formal test against it.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Measuring that is the next thing we do.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Then the audit trail we didn't finish, the two missing memory layers, versioning for skill packs, and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tidying up the developer setup.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We would rather be asked about these than found out on them."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~15s. Don't linger.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22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CLOSE (14:15-14:30) — aim to be here by 12:40 so Q&amp;A starts on time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"I'll stop there. Three things worth taking away: you set an assistant up rather than build one; it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answers from your documents and shows you where the answer came from; and it can reply with something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you can actually use.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It's open source, the link is on screen. Happy to take questions."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─── LIKELY QUESTIONS ───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Q: How is this different from ChatGPT?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A: ChatGPT is one assistant owned by someone else. This is a platform where your organisation creates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 its own assistants, on its own documents, with its own permissions, on whichever AI provider it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 chooses — and can see what each one costs.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Q: Why not just use LangChain or AutoGen?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A: Slide 9. They're Python, and NashTech and its clients are .NET. And none of them gave us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 permissions or cost tracking, which is most of what a company actually needs to approve it.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Q: How do you stop it making things up?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A: Slide 14 — it answers from the uploaded documents and shows the source, and when it has nothing it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 says so rather than guessing. We haven't yet measured how often that holds, and that's the top of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 our next-steps list.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Q: Can one assistant see another's documents?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A: No. Each has its own separate knowledge base — that's the left-hand side of slide 14.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Q: What was the hardest part?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A: Deciding what NOT to build. Three of our five proposal promises changed once we understood the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   problem better, and slide 21 is us being honest about that.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23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APPENDIX — not presented.</a:t>
            </a:r>
          </a:p>
          <a:p>
            <a:endParaRPr lang="en-US" sz="1200"/>
          </a:p>
          <a:p>
            <a:pPr>
              <a:lnSpc>
                <a:spcPct val="105000"/>
              </a:lnSpc>
            </a:pPr>
            <a:r>
              <a:rPr lang="en-US" sz="1200" dirty="0"/>
              <a:t>Use if step 2 or 3 of the demo won't load. The right-hand picture is also the answer to</a:t>
            </a:r>
          </a:p>
          <a:p>
            <a:pPr>
              <a:lnSpc>
                <a:spcPct val="105000"/>
              </a:lnSpc>
            </a:pPr>
            <a:r>
              <a:rPr lang="en-US" sz="1200" dirty="0"/>
              <a:t>"how does an assistant get a tool?" — it's a switch, per assistant.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24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APPENDIX — not presented. Jump here only if a reference is challenged in Q&amp;A.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25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1200" dirty="0"/>
              <a:t>APPENDIX — not presented. Jump here only if a reference is challenged in Q&amp;A.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B2B3B4-0000-0000-0000-000000000026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>
        <a:defRPr sz="1800">
          <a:solidFill>
            <a:schemeClr val="tx1"/>
          </a:solidFill>
          <a:latin typeface="+mn-lt"/>
        </a:defRPr>
      </a:lvl1pPr>
      <a:lvl2pPr marL="342900" algn="l">
        <a:defRPr sz="1800">
          <a:solidFill>
            <a:schemeClr val="tx1"/>
          </a:solidFill>
          <a:latin typeface="+mn-lt"/>
        </a:defRPr>
      </a:lvl2pPr>
      <a:lvl3pPr marL="685800" algn="l">
        <a:defRPr sz="1800">
          <a:solidFill>
            <a:schemeClr val="tx1"/>
          </a:solidFill>
          <a:latin typeface="+mn-lt"/>
        </a:defRPr>
      </a:lvl3pPr>
      <a:lvl4pPr marL="1028700" algn="l">
        <a:defRPr sz="1800">
          <a:solidFill>
            <a:schemeClr val="tx1"/>
          </a:solidFill>
          <a:latin typeface="+mn-lt"/>
        </a:defRPr>
      </a:lvl4pPr>
      <a:lvl5pPr marL="1371600" algn="l">
        <a:defRPr sz="1800">
          <a:solidFill>
            <a:schemeClr val="tx1"/>
          </a:solidFill>
          <a:latin typeface="+mn-lt"/>
        </a:defRPr>
      </a:lvl5pPr>
      <a:lvl6pPr marL="1714500" algn="l">
        <a:defRPr sz="1800">
          <a:solidFill>
            <a:schemeClr val="tx1"/>
          </a:solidFill>
          <a:latin typeface="+mn-lt"/>
        </a:defRPr>
      </a:lvl6pPr>
      <a:lvl7pPr marL="2057400" algn="l">
        <a:defRPr sz="1800">
          <a:solidFill>
            <a:schemeClr val="tx1"/>
          </a:solidFill>
          <a:latin typeface="+mn-lt"/>
        </a:defRPr>
      </a:lvl7pPr>
      <a:lvl8pPr marL="2400300" algn="l">
        <a:defRPr sz="1800">
          <a:solidFill>
            <a:schemeClr val="tx1"/>
          </a:solidFill>
          <a:latin typeface="+mn-lt"/>
        </a:defRPr>
      </a:lvl8pPr>
      <a:lvl9pPr marL="2743200" algn="l">
        <a:defRPr sz="1800">
          <a:solidFill>
            <a:schemeClr val="tx1"/>
          </a:solidFill>
          <a:latin typeface="+mn-lt"/>
        </a:defRPr>
      </a:lvl9pPr>
    </p:titleStyle>
    <p:bodyStyle>
      <a:lvl1pPr marL="0" algn="l">
        <a:defRPr sz="1800">
          <a:solidFill>
            <a:schemeClr val="tx1"/>
          </a:solidFill>
          <a:latin typeface="+mn-lt"/>
        </a:defRPr>
      </a:lvl1pPr>
      <a:lvl2pPr marL="342900" algn="l">
        <a:defRPr sz="1800">
          <a:solidFill>
            <a:schemeClr val="tx1"/>
          </a:solidFill>
          <a:latin typeface="+mn-lt"/>
        </a:defRPr>
      </a:lvl2pPr>
      <a:lvl3pPr marL="685800" algn="l">
        <a:defRPr sz="1800">
          <a:solidFill>
            <a:schemeClr val="tx1"/>
          </a:solidFill>
          <a:latin typeface="+mn-lt"/>
        </a:defRPr>
      </a:lvl3pPr>
      <a:lvl4pPr marL="1028700" algn="l">
        <a:defRPr sz="1800">
          <a:solidFill>
            <a:schemeClr val="tx1"/>
          </a:solidFill>
          <a:latin typeface="+mn-lt"/>
        </a:defRPr>
      </a:lvl4pPr>
      <a:lvl5pPr marL="1371600" algn="l">
        <a:defRPr sz="1800">
          <a:solidFill>
            <a:schemeClr val="tx1"/>
          </a:solidFill>
          <a:latin typeface="+mn-lt"/>
        </a:defRPr>
      </a:lvl5pPr>
      <a:lvl6pPr marL="1714500" algn="l">
        <a:defRPr sz="1800">
          <a:solidFill>
            <a:schemeClr val="tx1"/>
          </a:solidFill>
          <a:latin typeface="+mn-lt"/>
        </a:defRPr>
      </a:lvl6pPr>
      <a:lvl7pPr marL="2057400" algn="l">
        <a:defRPr sz="1800">
          <a:solidFill>
            <a:schemeClr val="tx1"/>
          </a:solidFill>
          <a:latin typeface="+mn-lt"/>
        </a:defRPr>
      </a:lvl7pPr>
      <a:lvl8pPr marL="2400300" algn="l">
        <a:defRPr sz="1800">
          <a:solidFill>
            <a:schemeClr val="tx1"/>
          </a:solidFill>
          <a:latin typeface="+mn-lt"/>
        </a:defRPr>
      </a:lvl8pPr>
      <a:lvl9pPr marL="2743200" algn="l">
        <a:defRPr sz="1800">
          <a:solidFill>
            <a:schemeClr val="tx1"/>
          </a:solidFill>
          <a:latin typeface="+mn-lt"/>
        </a:defRPr>
      </a:lvl9pPr>
    </p:bodyStyle>
    <p:otherStyle>
      <a:lvl1pPr marL="0" algn="l">
        <a:defRPr sz="1800">
          <a:solidFill>
            <a:schemeClr val="tx1"/>
          </a:solidFill>
          <a:latin typeface="+mn-lt"/>
        </a:defRPr>
      </a:lvl1pPr>
      <a:lvl2pPr marL="342900" algn="l">
        <a:defRPr sz="1800">
          <a:solidFill>
            <a:schemeClr val="tx1"/>
          </a:solidFill>
          <a:latin typeface="+mn-lt"/>
        </a:defRPr>
      </a:lvl2pPr>
      <a:lvl3pPr marL="685800" algn="l">
        <a:defRPr sz="1800">
          <a:solidFill>
            <a:schemeClr val="tx1"/>
          </a:solidFill>
          <a:latin typeface="+mn-lt"/>
        </a:defRPr>
      </a:lvl3pPr>
      <a:lvl4pPr marL="1028700" algn="l">
        <a:defRPr sz="1800">
          <a:solidFill>
            <a:schemeClr val="tx1"/>
          </a:solidFill>
          <a:latin typeface="+mn-lt"/>
        </a:defRPr>
      </a:lvl4pPr>
      <a:lvl5pPr marL="1371600" algn="l">
        <a:defRPr sz="1800">
          <a:solidFill>
            <a:schemeClr val="tx1"/>
          </a:solidFill>
          <a:latin typeface="+mn-lt"/>
        </a:defRPr>
      </a:lvl5pPr>
      <a:lvl6pPr marL="1714500" algn="l">
        <a:defRPr sz="1800">
          <a:solidFill>
            <a:schemeClr val="tx1"/>
          </a:solidFill>
          <a:latin typeface="+mn-lt"/>
        </a:defRPr>
      </a:lvl6pPr>
      <a:lvl7pPr marL="2057400" algn="l">
        <a:defRPr sz="1800">
          <a:solidFill>
            <a:schemeClr val="tx1"/>
          </a:solidFill>
          <a:latin typeface="+mn-lt"/>
        </a:defRPr>
      </a:lvl7pPr>
      <a:lvl8pPr marL="2400300" algn="l">
        <a:defRPr sz="1800">
          <a:solidFill>
            <a:schemeClr val="tx1"/>
          </a:solidFill>
          <a:latin typeface="+mn-lt"/>
        </a:defRPr>
      </a:lvl8pPr>
      <a:lvl9pPr marL="2743200" algn="l">
        <a:defRPr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12-CreateAgentScreen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09-DefaultCVChatScreen.png"/><Relationship Id="rId4" Type="http://schemas.openxmlformats.org/officeDocument/2006/relationships/image" Target="../media/11-DocumentCVChatScreen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06-weatherSkillChatScreen.png"/><Relationship Id="rId4" Type="http://schemas.openxmlformats.org/officeDocument/2006/relationships/image" Target="../media/07-AgentSkillScreen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02-tokenTrackScreen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13-AgentManagementScreen.png"/><Relationship Id="rId4" Type="http://schemas.openxmlformats.org/officeDocument/2006/relationships/image" Target="../media/04-NoSkillEnableScreen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b2"/>
          <p:cNvSpPr/>
          <p:nvPr/>
        </p:nvSpPr>
        <p:spPr>
          <a:xfrm>
            <a:off x="0" y="0"/>
            <a:ext cx="201168" cy="19202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k"/>
          <p:cNvSpPr txBox="1"/>
          <p:nvPr/>
        </p:nvSpPr>
        <p:spPr>
          <a:xfrm>
            <a:off x="713232" y="132588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dirty="0" spc="180">
                <a:solidFill>
                  <a:srgbClr val="0E6BA8"/>
                </a:solidFill>
                <a:latin typeface="Roboto"/>
                <a:cs typeface="Roboto"/>
              </a:rPr>
              <a:t>RMIT CAPSTONE PROJECT 2026  ·  TEAM QUOTA  ·  NASHTECH</a:t>
            </a:r>
          </a:p>
        </p:txBody>
      </p:sp>
      <p:sp>
        <p:nvSpPr>
          <p:cNvPr id="5" name="t"/>
          <p:cNvSpPr txBox="1"/>
          <p:nvPr/>
        </p:nvSpPr>
        <p:spPr>
          <a:xfrm>
            <a:off x="713232" y="1783080"/>
            <a:ext cx="102412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 spc="0">
                <a:solidFill>
                  <a:srgbClr val="101418"/>
                </a:solidFill>
                <a:latin typeface="Roboto"/>
                <a:cs typeface="Roboto"/>
              </a:rPr>
              <a:t>NTG Agent</a:t>
            </a:r>
          </a:p>
        </p:txBody>
      </p:sp>
      <p:sp>
        <p:nvSpPr>
          <p:cNvPr id="6" name="s"/>
          <p:cNvSpPr txBox="1"/>
          <p:nvPr/>
        </p:nvSpPr>
        <p:spPr>
          <a:xfrm>
            <a:off x="713232" y="288036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 spc="0">
                <a:solidFill>
                  <a:srgbClr val="5A6570"/>
                </a:solidFill>
                <a:latin typeface="Roboto"/>
                <a:cs typeface="Roboto"/>
              </a:rPr>
              <a:t>A platform for building AI assistants that know your documents, use your tools, and stay under your control.</a:t>
            </a:r>
          </a:p>
        </p:txBody>
      </p:sp>
      <p:cxnSp>
        <p:nvCxnSpPr>
          <p:cNvPr id="7" name="r"/>
          <p:cNvCxnSpPr/>
          <p:nvPr/>
        </p:nvCxnSpPr>
        <p:spPr>
          <a:xfrm>
            <a:off x="713232" y="3977640"/>
            <a:ext cx="3657600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8" name="m"/>
          <p:cNvSpPr txBox="1"/>
          <p:nvPr/>
        </p:nvSpPr>
        <p:spPr>
          <a:xfrm>
            <a:off x="713232" y="4224528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en-US" sz="1150" b="0" i="0" dirty="0" spc="0">
                <a:solidFill>
                  <a:srgbClr val="5A6570"/>
                </a:solidFill>
                <a:latin typeface="Roboto"/>
                <a:cs typeface="Roboto"/>
              </a:rPr>
              <a:t>Presented by  </a:t>
            </a: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[Your name]</a:t>
            </a:r>
            <a:r>
              <a:rPr lang="en-US" sz="1150" b="0" i="0" dirty="0" spc="0">
                <a:solidFill>
                  <a:srgbClr val="5A6570"/>
                </a:solidFill>
                <a:latin typeface="Roboto"/>
                <a:cs typeface="Roboto"/>
              </a:rPr>
              <a:t>   ·   Team QUOTA: Vu Gia An · Nguyen Tien · Tran Nguyen Quy Khang · Nguyen Dinh Minh Chau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en-US" sz="1150" b="0" i="0" dirty="0" spc="0">
                <a:solidFill>
                  <a:srgbClr val="5A6570"/>
                </a:solidFill>
                <a:latin typeface="Roboto"/>
                <a:cs typeface="Roboto"/>
              </a:rPr>
              <a:t>Academic supervisor  </a:t>
            </a: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Tran Nhat Quang</a:t>
            </a:r>
            <a:r>
              <a:rPr lang="en-US" sz="1150" b="0" i="0" dirty="0" spc="0">
                <a:solidFill>
                  <a:srgbClr val="5A6570"/>
                </a:solidFill>
                <a:latin typeface="Roboto"/>
                <a:cs typeface="Roboto"/>
              </a:rPr>
              <a:t>   ·   Industry partner  </a:t>
            </a: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NashTech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 spc="0">
                <a:solidFill>
                  <a:srgbClr val="5A6570"/>
                </a:solidFill>
                <a:latin typeface="Roboto"/>
                <a:cs typeface="Roboto"/>
              </a:rPr>
              <a:t>[Course code]  ·  [Date]  ·  Progress &amp; Accomplishments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AGENDA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What I'll cover in 13 minutes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graphicFrame>
        <p:nvGraphicFramePr>
          <p:cNvPr id="5" name="a"/>
          <p:cNvGraphicFramePr>
            <a:graphicFrameLocks noGrp="1"/>
          </p:cNvGraphicFramePr>
          <p:nvPr/>
        </p:nvGraphicFramePr>
        <p:xfrm>
          <a:off x="713232" y="2066544"/>
          <a:ext cx="10762488" cy="3255264"/>
        </p:xfrm>
        <a:graphic>
          <a:graphicData uri="http://schemas.openxmlformats.org/drawingml/2006/table">
            <a:tbl>
              <a:tblPr firstRow="1"/>
              <a:tblGrid>
                <a:gridCol w="548640"/>
                <a:gridCol w="8503920"/>
                <a:gridCol w="1709928"/>
              </a:tblGrid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/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Section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Time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1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What the project is, and the problem it solves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1.5 min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2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Market research and key concepts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2.5 min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3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How our solution works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3.5 min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4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Live demonstration of the working system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4 min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5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Progress so far, and what's next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1.5 min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"/>
          <p:cNvSpPr/>
          <p:nvPr/>
        </p:nvSpPr>
        <p:spPr>
          <a:xfrm>
            <a:off x="713232" y="5532120"/>
            <a:ext cx="10765536" cy="566928"/>
          </a:xfrm>
          <a:prstGeom prst="rect">
            <a:avLst/>
          </a:prstGeom>
          <a:solidFill>
            <a:srgbClr val="F4F7F9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nt"/>
          <p:cNvSpPr txBox="1"/>
          <p:nvPr/>
        </p:nvSpPr>
        <p:spPr>
          <a:xfrm>
            <a:off x="932688" y="5532120"/>
            <a:ext cx="10326624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No prior AI background needed. </a:t>
            </a:r>
            <a:r>
              <a:rPr lang="en-US" sz="1150" b="0" i="0" dirty="0" spc="0">
                <a:solidFill>
                  <a:srgbClr val="5A6570"/>
                </a:solidFill>
                <a:latin typeface="Roboto"/>
                <a:cs typeface="Roboto"/>
              </a:rPr>
              <a:t>Slide 7 explains every term I use before I use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b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n"/>
          <p:cNvSpPr txBox="1"/>
          <p:nvPr/>
        </p:nvSpPr>
        <p:spPr>
          <a:xfrm>
            <a:off x="713232" y="2240280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 spc="0">
                <a:solidFill>
                  <a:srgbClr val="FFFFFF"/>
                </a:solidFill>
                <a:latin typeface="Roboto"/>
                <a:cs typeface="Roboto"/>
              </a:rPr>
              <a:t>1</a:t>
            </a:r>
          </a:p>
        </p:txBody>
      </p:sp>
      <p:cxnSp>
        <p:nvCxnSpPr>
          <p:cNvPr id="5" name="v"/>
          <p:cNvCxnSpPr/>
          <p:nvPr/>
        </p:nvCxnSpPr>
        <p:spPr>
          <a:xfrm>
            <a:off x="1764792" y="2331720"/>
            <a:ext cx="0" cy="123444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6" name="t"/>
          <p:cNvSpPr txBox="1"/>
          <p:nvPr/>
        </p:nvSpPr>
        <p:spPr>
          <a:xfrm>
            <a:off x="2084832" y="2359152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 spc="0">
                <a:solidFill>
                  <a:srgbClr val="FFFFFF"/>
                </a:solidFill>
                <a:latin typeface="Roboto"/>
                <a:cs typeface="Roboto"/>
              </a:rPr>
              <a:t>What the project is</a:t>
            </a:r>
          </a:p>
        </p:txBody>
      </p:sp>
      <p:sp>
        <p:nvSpPr>
          <p:cNvPr id="7" name="s"/>
          <p:cNvSpPr txBox="1"/>
          <p:nvPr/>
        </p:nvSpPr>
        <p:spPr>
          <a:xfrm>
            <a:off x="2084832" y="312724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CFE4F0"/>
                </a:solidFill>
                <a:latin typeface="Roboto"/>
                <a:cs typeface="Roboto"/>
              </a:rPr>
              <a:t>The problem it solves, and who it is for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THE PROBLEM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Every team wants an AI assistant. Few can safely have one.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A chatbot is easy to start and hard to trust. These are the four reasons it usually stops there.</a:t>
            </a:r>
          </a:p>
        </p:txBody>
      </p:sp>
      <p:sp>
        <p:nvSpPr>
          <p:cNvPr id="6" name="t"/>
          <p:cNvSpPr/>
          <p:nvPr/>
        </p:nvSpPr>
        <p:spPr>
          <a:xfrm>
            <a:off x="713232" y="2231136"/>
            <a:ext cx="2513076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c"/>
          <p:cNvSpPr/>
          <p:nvPr/>
        </p:nvSpPr>
        <p:spPr>
          <a:xfrm>
            <a:off x="713232" y="2231136"/>
            <a:ext cx="2513076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t"/>
          <p:cNvSpPr txBox="1"/>
          <p:nvPr/>
        </p:nvSpPr>
        <p:spPr>
          <a:xfrm>
            <a:off x="914400" y="2468880"/>
            <a:ext cx="21107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 spc="0">
                <a:solidFill>
                  <a:srgbClr val="101418"/>
                </a:solidFill>
                <a:latin typeface="Roboto"/>
                <a:cs typeface="Roboto"/>
              </a:rPr>
              <a:t>It doesn't know you</a:t>
            </a:r>
          </a:p>
        </p:txBody>
      </p:sp>
      <p:sp>
        <p:nvSpPr>
          <p:cNvPr id="9" name="tb"/>
          <p:cNvSpPr txBox="1"/>
          <p:nvPr/>
        </p:nvSpPr>
        <p:spPr>
          <a:xfrm>
            <a:off x="914400" y="2834640"/>
            <a:ext cx="21107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A general AI model has never read your company's documents, policies or product manuals, so it answers from the internet — or invents something.</a:t>
            </a:r>
          </a:p>
        </p:txBody>
      </p:sp>
      <p:sp>
        <p:nvSpPr>
          <p:cNvPr id="10" name="t"/>
          <p:cNvSpPr/>
          <p:nvPr/>
        </p:nvSpPr>
        <p:spPr>
          <a:xfrm>
            <a:off x="3464052" y="2231136"/>
            <a:ext cx="2513076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"/>
          <p:cNvSpPr/>
          <p:nvPr/>
        </p:nvSpPr>
        <p:spPr>
          <a:xfrm>
            <a:off x="3464052" y="2231136"/>
            <a:ext cx="2513076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t"/>
          <p:cNvSpPr txBox="1"/>
          <p:nvPr/>
        </p:nvSpPr>
        <p:spPr>
          <a:xfrm>
            <a:off x="3665220" y="2468880"/>
            <a:ext cx="21107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 spc="0">
                <a:solidFill>
                  <a:srgbClr val="101418"/>
                </a:solidFill>
                <a:latin typeface="Roboto"/>
                <a:cs typeface="Roboto"/>
              </a:rPr>
              <a:t>It forgets you</a:t>
            </a:r>
          </a:p>
        </p:txBody>
      </p:sp>
      <p:sp>
        <p:nvSpPr>
          <p:cNvPr id="13" name="tb"/>
          <p:cNvSpPr txBox="1"/>
          <p:nvPr/>
        </p:nvSpPr>
        <p:spPr>
          <a:xfrm>
            <a:off x="3665220" y="2834640"/>
            <a:ext cx="21107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Close the window and everything is gone. It cannot build up any understanding of a person or a project over time.</a:t>
            </a:r>
          </a:p>
        </p:txBody>
      </p:sp>
      <p:sp>
        <p:nvSpPr>
          <p:cNvPr id="14" name="t"/>
          <p:cNvSpPr/>
          <p:nvPr/>
        </p:nvSpPr>
        <p:spPr>
          <a:xfrm>
            <a:off x="6214872" y="2231136"/>
            <a:ext cx="2513076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c"/>
          <p:cNvSpPr/>
          <p:nvPr/>
        </p:nvSpPr>
        <p:spPr>
          <a:xfrm>
            <a:off x="6214872" y="2231136"/>
            <a:ext cx="2513076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t"/>
          <p:cNvSpPr txBox="1"/>
          <p:nvPr/>
        </p:nvSpPr>
        <p:spPr>
          <a:xfrm>
            <a:off x="6416040" y="2468880"/>
            <a:ext cx="21107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 spc="0">
                <a:solidFill>
                  <a:srgbClr val="101418"/>
                </a:solidFill>
                <a:latin typeface="Roboto"/>
                <a:cs typeface="Roboto"/>
              </a:rPr>
              <a:t>It can't do anything</a:t>
            </a:r>
          </a:p>
        </p:txBody>
      </p:sp>
      <p:sp>
        <p:nvSpPr>
          <p:cNvPr id="17" name="tb"/>
          <p:cNvSpPr txBox="1"/>
          <p:nvPr/>
        </p:nvSpPr>
        <p:spPr>
          <a:xfrm>
            <a:off x="6416040" y="2834640"/>
            <a:ext cx="21107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It can talk about your systems but not use them. Connecting it to real tools means custom work for every tool and every AI provider.</a:t>
            </a:r>
          </a:p>
        </p:txBody>
      </p:sp>
      <p:sp>
        <p:nvSpPr>
          <p:cNvPr id="18" name="t"/>
          <p:cNvSpPr/>
          <p:nvPr/>
        </p:nvSpPr>
        <p:spPr>
          <a:xfrm>
            <a:off x="8965692" y="2231136"/>
            <a:ext cx="2513076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c"/>
          <p:cNvSpPr/>
          <p:nvPr/>
        </p:nvSpPr>
        <p:spPr>
          <a:xfrm>
            <a:off x="8965692" y="2231136"/>
            <a:ext cx="2513076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t"/>
          <p:cNvSpPr txBox="1"/>
          <p:nvPr/>
        </p:nvSpPr>
        <p:spPr>
          <a:xfrm>
            <a:off x="9166860" y="2468880"/>
            <a:ext cx="21107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 spc="0">
                <a:solidFill>
                  <a:srgbClr val="101418"/>
                </a:solidFill>
                <a:latin typeface="Roboto"/>
                <a:cs typeface="Roboto"/>
              </a:rPr>
              <a:t>Nobody is in control</a:t>
            </a:r>
          </a:p>
        </p:txBody>
      </p:sp>
      <p:sp>
        <p:nvSpPr>
          <p:cNvPr id="21" name="tb"/>
          <p:cNvSpPr txBox="1"/>
          <p:nvPr/>
        </p:nvSpPr>
        <p:spPr>
          <a:xfrm>
            <a:off x="9166860" y="2834640"/>
            <a:ext cx="21107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No record of who may use it, what it was asked, or what it costs — which is exactly what stops it being approved for real use.</a:t>
            </a:r>
          </a:p>
        </p:txBody>
      </p:sp>
      <p:sp>
        <p:nvSpPr>
          <p:cNvPr id="22" name="q"/>
          <p:cNvSpPr/>
          <p:nvPr/>
        </p:nvSpPr>
        <p:spPr>
          <a:xfrm>
            <a:off x="713232" y="5166360"/>
            <a:ext cx="10765536" cy="841248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qb"/>
          <p:cNvSpPr/>
          <p:nvPr/>
        </p:nvSpPr>
        <p:spPr>
          <a:xfrm>
            <a:off x="713232" y="5166360"/>
            <a:ext cx="45720" cy="841248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qt"/>
          <p:cNvSpPr txBox="1"/>
          <p:nvPr/>
        </p:nvSpPr>
        <p:spPr>
          <a:xfrm>
            <a:off x="969264" y="5166360"/>
            <a:ext cx="10216896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 spc="0">
                <a:solidFill>
                  <a:srgbClr val="101418"/>
                </a:solidFill>
                <a:latin typeface="Roboto"/>
                <a:cs typeface="Roboto"/>
              </a:rPr>
              <a:t>Our starting point. </a:t>
            </a:r>
            <a:r>
              <a:rPr lang="en-US" sz="1250" b="0" i="0" dirty="0" spc="0">
                <a:solidFill>
                  <a:srgbClr val="5A6570"/>
                </a:solidFill>
                <a:latin typeface="Roboto"/>
                <a:cs typeface="Roboto"/>
              </a:rPr>
              <a:t>NashTech had already built a first version — a working chat application with a single fixed assistant. It had none of the four properties above. Turning it into something an organisation could actually deploy is our capstone.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THE PROJECT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What NTG Agent does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A platform where you set up an AI assistant in a browser — no programming, no redeployment.</a:t>
            </a:r>
          </a:p>
        </p:txBody>
      </p:sp>
      <p:sp>
        <p:nvSpPr>
          <p:cNvPr id="6" name="t"/>
          <p:cNvSpPr/>
          <p:nvPr/>
        </p:nvSpPr>
        <p:spPr>
          <a:xfrm>
            <a:off x="713232" y="2176272"/>
            <a:ext cx="3430016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c"/>
          <p:cNvSpPr/>
          <p:nvPr/>
        </p:nvSpPr>
        <p:spPr>
          <a:xfrm>
            <a:off x="713232" y="2176272"/>
            <a:ext cx="3430016" cy="4572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t"/>
          <p:cNvSpPr txBox="1"/>
          <p:nvPr/>
        </p:nvSpPr>
        <p:spPr>
          <a:xfrm>
            <a:off x="914400" y="2414016"/>
            <a:ext cx="3027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 spc="0">
                <a:solidFill>
                  <a:srgbClr val="101418"/>
                </a:solidFill>
                <a:latin typeface="Roboto"/>
                <a:cs typeface="Roboto"/>
              </a:rPr>
              <a:t>Build assistants without code</a:t>
            </a:r>
          </a:p>
        </p:txBody>
      </p:sp>
      <p:sp>
        <p:nvSpPr>
          <p:cNvPr id="9" name="tb"/>
          <p:cNvSpPr txBox="1"/>
          <p:nvPr/>
        </p:nvSpPr>
        <p:spPr>
          <a:xfrm>
            <a:off x="914400" y="2779776"/>
            <a:ext cx="30276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Name it, pick the AI model, write its instructions, publish it. All from an admin screen.</a:t>
            </a:r>
          </a:p>
        </p:txBody>
      </p:sp>
      <p:sp>
        <p:nvSpPr>
          <p:cNvPr id="10" name="t"/>
          <p:cNvSpPr/>
          <p:nvPr/>
        </p:nvSpPr>
        <p:spPr>
          <a:xfrm>
            <a:off x="4380992" y="2176272"/>
            <a:ext cx="3430016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"/>
          <p:cNvSpPr/>
          <p:nvPr/>
        </p:nvSpPr>
        <p:spPr>
          <a:xfrm>
            <a:off x="4380992" y="2176272"/>
            <a:ext cx="3430016" cy="4572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t"/>
          <p:cNvSpPr txBox="1"/>
          <p:nvPr/>
        </p:nvSpPr>
        <p:spPr>
          <a:xfrm>
            <a:off x="4582160" y="2414016"/>
            <a:ext cx="3027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 spc="0">
                <a:solidFill>
                  <a:srgbClr val="101418"/>
                </a:solidFill>
                <a:latin typeface="Roboto"/>
                <a:cs typeface="Roboto"/>
              </a:rPr>
              <a:t>Give it your documents</a:t>
            </a:r>
          </a:p>
        </p:txBody>
      </p:sp>
      <p:sp>
        <p:nvSpPr>
          <p:cNvPr id="13" name="tb"/>
          <p:cNvSpPr txBox="1"/>
          <p:nvPr/>
        </p:nvSpPr>
        <p:spPr>
          <a:xfrm>
            <a:off x="4582160" y="2779776"/>
            <a:ext cx="30276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Upload files to an assistant. It answers from them and shows which document it used.</a:t>
            </a:r>
          </a:p>
        </p:txBody>
      </p:sp>
      <p:sp>
        <p:nvSpPr>
          <p:cNvPr id="14" name="t"/>
          <p:cNvSpPr/>
          <p:nvPr/>
        </p:nvSpPr>
        <p:spPr>
          <a:xfrm>
            <a:off x="8048752" y="2176272"/>
            <a:ext cx="3430016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c"/>
          <p:cNvSpPr/>
          <p:nvPr/>
        </p:nvSpPr>
        <p:spPr>
          <a:xfrm>
            <a:off x="8048752" y="2176272"/>
            <a:ext cx="3430016" cy="4572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t"/>
          <p:cNvSpPr txBox="1"/>
          <p:nvPr/>
        </p:nvSpPr>
        <p:spPr>
          <a:xfrm>
            <a:off x="8249920" y="2414016"/>
            <a:ext cx="3027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 spc="0">
                <a:solidFill>
                  <a:srgbClr val="101418"/>
                </a:solidFill>
                <a:latin typeface="Roboto"/>
                <a:cs typeface="Roboto"/>
              </a:rPr>
              <a:t>Connect it to real tools</a:t>
            </a:r>
          </a:p>
        </p:txBody>
      </p:sp>
      <p:sp>
        <p:nvSpPr>
          <p:cNvPr id="17" name="tb"/>
          <p:cNvSpPr txBox="1"/>
          <p:nvPr/>
        </p:nvSpPr>
        <p:spPr>
          <a:xfrm>
            <a:off x="8249920" y="2779776"/>
            <a:ext cx="30276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Live weather, web search, and any other tool added through one standard connector.</a:t>
            </a:r>
          </a:p>
        </p:txBody>
      </p:sp>
      <p:sp>
        <p:nvSpPr>
          <p:cNvPr id="18" name="t"/>
          <p:cNvSpPr/>
          <p:nvPr/>
        </p:nvSpPr>
        <p:spPr>
          <a:xfrm>
            <a:off x="713232" y="3895344"/>
            <a:ext cx="3430016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c"/>
          <p:cNvSpPr/>
          <p:nvPr/>
        </p:nvSpPr>
        <p:spPr>
          <a:xfrm>
            <a:off x="713232" y="3895344"/>
            <a:ext cx="3430016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t"/>
          <p:cNvSpPr txBox="1"/>
          <p:nvPr/>
        </p:nvSpPr>
        <p:spPr>
          <a:xfrm>
            <a:off x="914400" y="4133088"/>
            <a:ext cx="3027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 spc="0">
                <a:solidFill>
                  <a:srgbClr val="101418"/>
                </a:solidFill>
                <a:latin typeface="Roboto"/>
                <a:cs typeface="Roboto"/>
              </a:rPr>
              <a:t>Let assistants work together</a:t>
            </a:r>
          </a:p>
        </p:txBody>
      </p:sp>
      <p:sp>
        <p:nvSpPr>
          <p:cNvPr id="21" name="tb"/>
          <p:cNvSpPr txBox="1"/>
          <p:nvPr/>
        </p:nvSpPr>
        <p:spPr>
          <a:xfrm>
            <a:off x="914400" y="4498848"/>
            <a:ext cx="30276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A general assistant can hand specialist questions to a specialist one, automatically.</a:t>
            </a:r>
          </a:p>
        </p:txBody>
      </p:sp>
      <p:sp>
        <p:nvSpPr>
          <p:cNvPr id="22" name="t"/>
          <p:cNvSpPr/>
          <p:nvPr/>
        </p:nvSpPr>
        <p:spPr>
          <a:xfrm>
            <a:off x="4380992" y="3895344"/>
            <a:ext cx="3430016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c"/>
          <p:cNvSpPr/>
          <p:nvPr/>
        </p:nvSpPr>
        <p:spPr>
          <a:xfrm>
            <a:off x="4380992" y="3895344"/>
            <a:ext cx="3430016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t"/>
          <p:cNvSpPr txBox="1"/>
          <p:nvPr/>
        </p:nvSpPr>
        <p:spPr>
          <a:xfrm>
            <a:off x="4582160" y="4133088"/>
            <a:ext cx="3027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 spc="0">
                <a:solidFill>
                  <a:srgbClr val="101418"/>
                </a:solidFill>
                <a:latin typeface="Roboto"/>
                <a:cs typeface="Roboto"/>
              </a:rPr>
              <a:t>Answer with a screen, not a paragraph</a:t>
            </a:r>
          </a:p>
        </p:txBody>
      </p:sp>
      <p:sp>
        <p:nvSpPr>
          <p:cNvPr id="25" name="tb"/>
          <p:cNvSpPr txBox="1"/>
          <p:nvPr/>
        </p:nvSpPr>
        <p:spPr>
          <a:xfrm>
            <a:off x="4582160" y="4498848"/>
            <a:ext cx="30276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For some tasks it replies with a working form or card the user can fill in and submit.</a:t>
            </a:r>
          </a:p>
        </p:txBody>
      </p:sp>
      <p:sp>
        <p:nvSpPr>
          <p:cNvPr id="26" name="t"/>
          <p:cNvSpPr/>
          <p:nvPr/>
        </p:nvSpPr>
        <p:spPr>
          <a:xfrm>
            <a:off x="8048752" y="3895344"/>
            <a:ext cx="3430016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c"/>
          <p:cNvSpPr/>
          <p:nvPr/>
        </p:nvSpPr>
        <p:spPr>
          <a:xfrm>
            <a:off x="8048752" y="3895344"/>
            <a:ext cx="3430016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t"/>
          <p:cNvSpPr txBox="1"/>
          <p:nvPr/>
        </p:nvSpPr>
        <p:spPr>
          <a:xfrm>
            <a:off x="8249920" y="4133088"/>
            <a:ext cx="3027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 spc="0">
                <a:solidFill>
                  <a:srgbClr val="101418"/>
                </a:solidFill>
                <a:latin typeface="Roboto"/>
                <a:cs typeface="Roboto"/>
              </a:rPr>
              <a:t>Keep it under control</a:t>
            </a:r>
          </a:p>
        </p:txBody>
      </p:sp>
      <p:sp>
        <p:nvSpPr>
          <p:cNvPr id="29" name="tb"/>
          <p:cNvSpPr txBox="1"/>
          <p:nvPr/>
        </p:nvSpPr>
        <p:spPr>
          <a:xfrm>
            <a:off x="8249920" y="4498848"/>
            <a:ext cx="30276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Decide who may use each assistant, and see exactly what everyone is using and costing.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THE PROJECT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Who uses it, and why it matters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Two audiences, two screens — and one reason NashTech wanted it built.</a:t>
            </a:r>
          </a:p>
        </p:txBody>
      </p:sp>
      <p:sp>
        <p:nvSpPr>
          <p:cNvPr id="6" name="l"/>
          <p:cNvSpPr/>
          <p:nvPr/>
        </p:nvSpPr>
        <p:spPr>
          <a:xfrm>
            <a:off x="713232" y="2176272"/>
            <a:ext cx="5120640" cy="2103120"/>
          </a:xfrm>
          <a:prstGeom prst="rect">
            <a:avLst/>
          </a:prstGeom>
          <a:solidFill>
            <a:srgbClr val="F4F7F9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lc"/>
          <p:cNvSpPr/>
          <p:nvPr/>
        </p:nvSpPr>
        <p:spPr>
          <a:xfrm>
            <a:off x="713232" y="2176272"/>
            <a:ext cx="5120640" cy="4572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lt"/>
          <p:cNvSpPr txBox="1"/>
          <p:nvPr/>
        </p:nvSpPr>
        <p:spPr>
          <a:xfrm>
            <a:off x="969264" y="2432304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dirty="0" spc="0">
                <a:solidFill>
                  <a:srgbClr val="101418"/>
                </a:solidFill>
                <a:latin typeface="Roboto"/>
                <a:cs typeface="Roboto"/>
              </a:rPr>
              <a:t>The administrator</a:t>
            </a:r>
          </a:p>
        </p:txBody>
      </p:sp>
      <p:sp>
        <p:nvSpPr>
          <p:cNvPr id="9" name="b"/>
          <p:cNvSpPr txBox="1"/>
          <p:nvPr/>
        </p:nvSpPr>
        <p:spPr>
          <a:xfrm>
            <a:off x="969264" y="2852928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Sets up assistants</a:t>
            </a:r>
            <a:r>
              <a:rPr lang="en-US" sz="1150" b="0" i="0" dirty="0" spc="0">
                <a:solidFill>
                  <a:srgbClr val="5A6570"/>
                </a:solidFill>
                <a:latin typeface="Roboto"/>
                <a:cs typeface="Roboto"/>
              </a:rPr>
              <a:t> — model, instructions, documents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Chooses the tools</a:t>
            </a:r>
            <a:r>
              <a:rPr lang="en-US" sz="1150" b="0" i="0" dirty="0" spc="0">
                <a:solidFill>
                  <a:srgbClr val="5A6570"/>
                </a:solidFill>
                <a:latin typeface="Roboto"/>
                <a:cs typeface="Roboto"/>
              </a:rPr>
              <a:t> each one is allowed to use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Decides who can use it</a:t>
            </a:r>
            <a:r>
              <a:rPr lang="en-US" sz="1150" b="0" i="0" dirty="0" spc="0">
                <a:solidFill>
                  <a:srgbClr val="5A6570"/>
                </a:solidFill>
                <a:latin typeface="Roboto"/>
                <a:cs typeface="Roboto"/>
              </a:rPr>
              <a:t> and watches the cost</a:t>
            </a:r>
          </a:p>
        </p:txBody>
      </p:sp>
      <p:sp>
        <p:nvSpPr>
          <p:cNvPr id="10" name="r"/>
          <p:cNvSpPr/>
          <p:nvPr/>
        </p:nvSpPr>
        <p:spPr>
          <a:xfrm>
            <a:off x="6355080" y="2176272"/>
            <a:ext cx="5120640" cy="2103120"/>
          </a:xfrm>
          <a:prstGeom prst="rect">
            <a:avLst/>
          </a:prstGeom>
          <a:solidFill>
            <a:srgbClr val="F4F7F9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c"/>
          <p:cNvSpPr/>
          <p:nvPr/>
        </p:nvSpPr>
        <p:spPr>
          <a:xfrm>
            <a:off x="6355080" y="2176272"/>
            <a:ext cx="5120640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t"/>
          <p:cNvSpPr txBox="1"/>
          <p:nvPr/>
        </p:nvSpPr>
        <p:spPr>
          <a:xfrm>
            <a:off x="6611112" y="2432304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dirty="0" spc="0">
                <a:solidFill>
                  <a:srgbClr val="101418"/>
                </a:solidFill>
                <a:latin typeface="Roboto"/>
                <a:cs typeface="Roboto"/>
              </a:rPr>
              <a:t>The end user</a:t>
            </a:r>
          </a:p>
        </p:txBody>
      </p:sp>
      <p:sp>
        <p:nvSpPr>
          <p:cNvPr id="13" name="b"/>
          <p:cNvSpPr txBox="1"/>
          <p:nvPr/>
        </p:nvSpPr>
        <p:spPr>
          <a:xfrm>
            <a:off x="6611112" y="2852928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Just chats</a:t>
            </a:r>
            <a:r>
              <a:rPr lang="en-US" sz="1150" b="0" i="0" dirty="0" spc="0">
                <a:solidFill>
                  <a:srgbClr val="5A6570"/>
                </a:solidFill>
                <a:latin typeface="Roboto"/>
                <a:cs typeface="Roboto"/>
              </a:rPr>
              <a:t> — picks an assistant and asks a question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Gets answers with sources</a:t>
            </a:r>
            <a:r>
              <a:rPr lang="en-US" sz="1150" b="0" i="0" dirty="0" spc="0">
                <a:solidFill>
                  <a:srgbClr val="5A6570"/>
                </a:solidFill>
                <a:latin typeface="Roboto"/>
                <a:cs typeface="Roboto"/>
              </a:rPr>
              <a:t> they can check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Never sees any of the setup</a:t>
            </a:r>
          </a:p>
        </p:txBody>
      </p:sp>
      <p:sp>
        <p:nvSpPr>
          <p:cNvPr id="14" name="w"/>
          <p:cNvSpPr/>
          <p:nvPr/>
        </p:nvSpPr>
        <p:spPr>
          <a:xfrm>
            <a:off x="713232" y="4846320"/>
            <a:ext cx="1076553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wb"/>
          <p:cNvSpPr/>
          <p:nvPr/>
        </p:nvSpPr>
        <p:spPr>
          <a:xfrm>
            <a:off x="713232" y="4846320"/>
            <a:ext cx="45720" cy="118872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wt"/>
          <p:cNvSpPr txBox="1"/>
          <p:nvPr/>
        </p:nvSpPr>
        <p:spPr>
          <a:xfrm>
            <a:off x="987552" y="4846320"/>
            <a:ext cx="1018032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30"/>
              </a:spcAft>
              <a:buNone/>
            </a:pPr>
            <a:r>
              <a:rPr lang="en-US" sz="1250" b="1" i="0" dirty="0" spc="0">
                <a:solidFill>
                  <a:srgbClr val="0E6BA8"/>
                </a:solidFill>
                <a:latin typeface="Roboto"/>
                <a:cs typeface="Roboto"/>
              </a:rPr>
              <a:t>Why NashTech wanted this built</a:t>
            </a:r>
          </a:p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 spc="0">
                <a:solidFill>
                  <a:srgbClr val="5A6570"/>
                </a:solidFill>
                <a:latin typeface="Roboto"/>
                <a:cs typeface="Roboto"/>
              </a:rPr>
              <a:t>Almost every serious tool in this space is built in Python. NashTech is a Microsoft .NET consultancy, and so are most of its clients. So the goal was never a single chatbot — it is an open-source example NashTech can reuse and show to customers as proof of what their teams can build.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b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n"/>
          <p:cNvSpPr txBox="1"/>
          <p:nvPr/>
        </p:nvSpPr>
        <p:spPr>
          <a:xfrm>
            <a:off x="713232" y="2240280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 spc="0">
                <a:solidFill>
                  <a:srgbClr val="FFFFFF"/>
                </a:solidFill>
                <a:latin typeface="Roboto"/>
                <a:cs typeface="Roboto"/>
              </a:rPr>
              <a:t>2</a:t>
            </a:r>
          </a:p>
        </p:txBody>
      </p:sp>
      <p:cxnSp>
        <p:nvCxnSpPr>
          <p:cNvPr id="5" name="v"/>
          <p:cNvCxnSpPr/>
          <p:nvPr/>
        </p:nvCxnSpPr>
        <p:spPr>
          <a:xfrm>
            <a:off x="1764792" y="2331720"/>
            <a:ext cx="0" cy="123444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6" name="t"/>
          <p:cNvSpPr txBox="1"/>
          <p:nvPr/>
        </p:nvSpPr>
        <p:spPr>
          <a:xfrm>
            <a:off x="2084832" y="2359152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 spc="0">
                <a:solidFill>
                  <a:srgbClr val="FFFFFF"/>
                </a:solidFill>
                <a:latin typeface="Roboto"/>
                <a:cs typeface="Roboto"/>
              </a:rPr>
              <a:t>Market research and key concepts</a:t>
            </a:r>
          </a:p>
        </p:txBody>
      </p:sp>
      <p:sp>
        <p:nvSpPr>
          <p:cNvPr id="7" name="s"/>
          <p:cNvSpPr txBox="1"/>
          <p:nvPr/>
        </p:nvSpPr>
        <p:spPr>
          <a:xfrm>
            <a:off x="2084832" y="312724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CFE4F0"/>
                </a:solidFill>
                <a:latin typeface="Roboto"/>
                <a:cs typeface="Roboto"/>
              </a:rPr>
              <a:t>What already exists, the terms you need, and the gaps we chose to fill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KEY CONCEPTS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Four terms, in plain English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These come up for the rest of the talk, so here they are once, up front.</a:t>
            </a:r>
          </a:p>
        </p:txBody>
      </p:sp>
      <p:graphicFrame>
        <p:nvGraphicFramePr>
          <p:cNvPr id="6" name="g"/>
          <p:cNvGraphicFramePr>
            <a:graphicFrameLocks noGrp="1"/>
          </p:cNvGraphicFramePr>
          <p:nvPr/>
        </p:nvGraphicFramePr>
        <p:xfrm>
          <a:off x="713232" y="2121408"/>
          <a:ext cx="10762488" cy="3730752"/>
        </p:xfrm>
        <a:graphic>
          <a:graphicData uri="http://schemas.openxmlformats.org/drawingml/2006/table">
            <a:tbl>
              <a:tblPr firstRow="1"/>
              <a:tblGrid>
                <a:gridCol w="1920240"/>
                <a:gridCol w="4572000"/>
                <a:gridCol w="4270248"/>
              </a:tblGrid>
              <a:tr h="36576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Term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What it means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Why it matters here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RAG
(retrieval)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Before answering, the system searches your uploaded documents and gives the AI the most relevant pages to read.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This is how the assistant answers from your documents instead of guessing.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MCP
(tool standard)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An agreed way for any AI model to use any tool — like USB, but for connecting AI to software.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Without a standard, every AI model needs custom wiring to every tool. With one, they plug together.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Agent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An AI assistant with a job, a set of documents, and permission to use certain tools.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The thing an administrator creates. The product is a factory for these.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Skill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 prepared pack that teaches an assistant a task, and can include a ready-made screen for it.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How we make an assistant reply with a working form instead of a wall of text.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MARKET RESEARCH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What already exists, and where it stops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The four best-known platforms, plus the version NashTech started from.</a:t>
            </a:r>
          </a:p>
        </p:txBody>
      </p:sp>
      <p:graphicFrame>
        <p:nvGraphicFramePr>
          <p:cNvPr id="6" name="c"/>
          <p:cNvGraphicFramePr>
            <a:graphicFrameLocks noGrp="1"/>
          </p:cNvGraphicFramePr>
          <p:nvPr/>
        </p:nvGraphicFramePr>
        <p:xfrm>
          <a:off x="713232" y="2048256"/>
          <a:ext cx="10762488" cy="3072384"/>
        </p:xfrm>
        <a:graphic>
          <a:graphicData uri="http://schemas.openxmlformats.org/drawingml/2006/table">
            <a:tbl>
              <a:tblPr firstRow="1"/>
              <a:tblGrid>
                <a:gridCol w="2606040"/>
                <a:gridCol w="1700784"/>
                <a:gridCol w="1481328"/>
                <a:gridCol w="1481328"/>
                <a:gridCol w="1572768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/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LangChain /
LangGraph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AutoGen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CrewAI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Semantic
Kernel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NTG Agent v1
(our start)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Built in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Python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Python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Python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.NET / Python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.NET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Assistants work together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Yes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Yes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Yes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Partly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No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Remembers users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Partly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No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No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Partly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Partly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Answers from your documents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Strong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Minimal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Minimal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Strong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Limited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Standard tool connections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Own system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Limited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Limited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Yes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Yes, 2 tools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Access control &amp; permissions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Minimal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Minimal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Minimal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Minimal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Minimal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Cost and usage tracking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Add-on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Minimal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Minimal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Partly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None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Ready for enterprise use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Low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Low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Low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7" name="cal"/>
          <p:cNvSpPr/>
          <p:nvPr/>
        </p:nvSpPr>
        <p:spPr>
          <a:xfrm>
            <a:off x="713232" y="5760720"/>
            <a:ext cx="10765536" cy="530352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cb"/>
          <p:cNvSpPr/>
          <p:nvPr/>
        </p:nvSpPr>
        <p:spPr>
          <a:xfrm>
            <a:off x="713232" y="5760720"/>
            <a:ext cx="45720" cy="5303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ct"/>
          <p:cNvSpPr txBox="1"/>
          <p:nvPr/>
        </p:nvSpPr>
        <p:spPr>
          <a:xfrm>
            <a:off x="950976" y="5760720"/>
            <a:ext cx="10262616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Look at the last three rows. </a:t>
            </a:r>
            <a:r>
              <a:rPr lang="en-US" sz="1150" b="0" i="0" dirty="0" spc="0">
                <a:solidFill>
                  <a:srgbClr val="5A6570"/>
                </a:solidFill>
                <a:latin typeface="Roboto"/>
                <a:cs typeface="Roboto"/>
              </a:rPr>
              <a:t>Permissions, cost tracking and enterprise readiness are weak or missing everywhere. That is the gap we build into.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FROM RESEARCH TO DESIGN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What the research told us to build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Five gaps we found in the literature and the market, and the feature each one became.</a:t>
            </a:r>
          </a:p>
        </p:txBody>
      </p:sp>
      <p:graphicFrame>
        <p:nvGraphicFramePr>
          <p:cNvPr id="6" name="g"/>
          <p:cNvGraphicFramePr>
            <a:graphicFrameLocks noGrp="1"/>
          </p:cNvGraphicFramePr>
          <p:nvPr/>
        </p:nvGraphicFramePr>
        <p:xfrm>
          <a:off x="713232" y="2084832"/>
          <a:ext cx="10762488" cy="3474720"/>
        </p:xfrm>
        <a:graphic>
          <a:graphicData uri="http://schemas.openxmlformats.org/drawingml/2006/table">
            <a:tbl>
              <a:tblPr firstRow="1"/>
              <a:tblGrid>
                <a:gridCol w="5577840"/>
                <a:gridCol w="5184648"/>
              </a:tblGrid>
              <a:tr h="36576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What the research said was missing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What we built because of it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3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When several assistants share one pool of documents, answers become inconsistent and information leaks between them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3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Every assistant gets its own separate knowledge base. One cannot see another's documents.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3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Most platforms are tied to one AI provider, and switching means rewriting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3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Five AI providers supported. Switching an assistant between them is a dropdown, not a rewrite.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3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Assistants usually forget everything between sessions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3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Long-term memory across conversations, which the user can switch on or off.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3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Connecting AI to tools is different for every product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3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One standard connector (MCP) for every tool, including other assistants.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3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Almost nothing tracks what an assistant is doing or costing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3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Usage and cost recorded for every request, per user, visible in an admin dashboard.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b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n"/>
          <p:cNvSpPr txBox="1"/>
          <p:nvPr/>
        </p:nvSpPr>
        <p:spPr>
          <a:xfrm>
            <a:off x="713232" y="2240280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 spc="0">
                <a:solidFill>
                  <a:srgbClr val="FFFFFF"/>
                </a:solidFill>
                <a:latin typeface="Roboto"/>
                <a:cs typeface="Roboto"/>
              </a:rPr>
              <a:t>3</a:t>
            </a:r>
          </a:p>
        </p:txBody>
      </p:sp>
      <p:cxnSp>
        <p:nvCxnSpPr>
          <p:cNvPr id="5" name="v"/>
          <p:cNvCxnSpPr/>
          <p:nvPr/>
        </p:nvCxnSpPr>
        <p:spPr>
          <a:xfrm>
            <a:off x="1764792" y="2331720"/>
            <a:ext cx="0" cy="123444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6" name="t"/>
          <p:cNvSpPr txBox="1"/>
          <p:nvPr/>
        </p:nvSpPr>
        <p:spPr>
          <a:xfrm>
            <a:off x="2084832" y="2359152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 spc="0">
                <a:solidFill>
                  <a:srgbClr val="FFFFFF"/>
                </a:solidFill>
                <a:latin typeface="Roboto"/>
                <a:cs typeface="Roboto"/>
              </a:rPr>
              <a:t>How our solution works</a:t>
            </a:r>
          </a:p>
        </p:txBody>
      </p:sp>
      <p:sp>
        <p:nvSpPr>
          <p:cNvPr id="7" name="s"/>
          <p:cNvSpPr txBox="1"/>
          <p:nvPr/>
        </p:nvSpPr>
        <p:spPr>
          <a:xfrm>
            <a:off x="2084832" y="312724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CFE4F0"/>
                </a:solidFill>
                <a:latin typeface="Roboto"/>
                <a:cs typeface="Roboto"/>
              </a:rPr>
              <a:t>The parts of the system, and the four features that matter most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SOLUTION DESIGN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How the system fits together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Three things people use, one service that does the work, and what it connects to.</a:t>
            </a:r>
          </a:p>
        </p:txBody>
      </p:sp>
      <p:sp>
        <p:nvSpPr>
          <p:cNvPr id="6" name="b"/>
          <p:cNvSpPr/>
          <p:nvPr/>
        </p:nvSpPr>
        <p:spPr>
          <a:xfrm>
            <a:off x="713232" y="2212848"/>
            <a:ext cx="340156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cp"/>
          <p:cNvSpPr/>
          <p:nvPr/>
        </p:nvSpPr>
        <p:spPr>
          <a:xfrm>
            <a:off x="713232" y="2212848"/>
            <a:ext cx="3401568" cy="4572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x"/>
          <p:cNvSpPr txBox="1"/>
          <p:nvPr/>
        </p:nvSpPr>
        <p:spPr>
          <a:xfrm>
            <a:off x="804672" y="2212848"/>
            <a:ext cx="3218688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Chat app</a:t>
            </a:r>
          </a:p>
          <a:p>
            <a:pPr algn="ctr" marL="0" indent="0">
              <a:lnSpc>
                <a:spcPct val="104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where people ask questions</a:t>
            </a:r>
          </a:p>
        </p:txBody>
      </p:sp>
      <p:sp>
        <p:nvSpPr>
          <p:cNvPr id="9" name="b"/>
          <p:cNvSpPr/>
          <p:nvPr/>
        </p:nvSpPr>
        <p:spPr>
          <a:xfrm>
            <a:off x="4389120" y="2212848"/>
            <a:ext cx="340156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cp"/>
          <p:cNvSpPr/>
          <p:nvPr/>
        </p:nvSpPr>
        <p:spPr>
          <a:xfrm>
            <a:off x="4389120" y="2212848"/>
            <a:ext cx="3401568" cy="4572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x"/>
          <p:cNvSpPr txBox="1"/>
          <p:nvPr/>
        </p:nvSpPr>
        <p:spPr>
          <a:xfrm>
            <a:off x="4480560" y="2212848"/>
            <a:ext cx="3218688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Admin console</a:t>
            </a:r>
          </a:p>
          <a:p>
            <a:pPr algn="ctr" marL="0" indent="0">
              <a:lnSpc>
                <a:spcPct val="104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where assistants are set up</a:t>
            </a:r>
          </a:p>
        </p:txBody>
      </p:sp>
      <p:sp>
        <p:nvSpPr>
          <p:cNvPr id="12" name="b"/>
          <p:cNvSpPr/>
          <p:nvPr/>
        </p:nvSpPr>
        <p:spPr>
          <a:xfrm>
            <a:off x="8065008" y="2212848"/>
            <a:ext cx="340156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cp"/>
          <p:cNvSpPr/>
          <p:nvPr/>
        </p:nvSpPr>
        <p:spPr>
          <a:xfrm>
            <a:off x="8065008" y="2212848"/>
            <a:ext cx="3401568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x"/>
          <p:cNvSpPr txBox="1"/>
          <p:nvPr/>
        </p:nvSpPr>
        <p:spPr>
          <a:xfrm>
            <a:off x="8156448" y="2212848"/>
            <a:ext cx="3218688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Interactive client</a:t>
            </a:r>
          </a:p>
          <a:p>
            <a:pPr algn="ctr" marL="0" indent="0">
              <a:lnSpc>
                <a:spcPct val="104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where forms and cards appear</a:t>
            </a:r>
          </a:p>
        </p:txBody>
      </p:sp>
      <p:cxnSp>
        <p:nvCxnSpPr>
          <p:cNvPr id="15" name="a"/>
          <p:cNvCxnSpPr/>
          <p:nvPr/>
        </p:nvCxnSpPr>
        <p:spPr>
          <a:xfrm>
            <a:off x="2414016" y="2999232"/>
            <a:ext cx="0" cy="548640"/>
          </a:xfrm>
          <a:prstGeom prst="line">
            <a:avLst/>
          </a:prstGeom>
          <a:ln w="9525">
            <a:solidFill>
              <a:srgbClr val="5A6570"/>
            </a:solidFill>
            <a:tailEnd type="triangle" w="med" len="med"/>
          </a:ln>
        </p:spPr>
      </p:cxnSp>
      <p:cxnSp>
        <p:nvCxnSpPr>
          <p:cNvPr id="16" name="a"/>
          <p:cNvCxnSpPr/>
          <p:nvPr/>
        </p:nvCxnSpPr>
        <p:spPr>
          <a:xfrm>
            <a:off x="6089904" y="2999232"/>
            <a:ext cx="0" cy="548640"/>
          </a:xfrm>
          <a:prstGeom prst="line">
            <a:avLst/>
          </a:prstGeom>
          <a:ln w="9525">
            <a:solidFill>
              <a:srgbClr val="5A6570"/>
            </a:solidFill>
            <a:tailEnd type="triangle" w="med" len="med"/>
          </a:ln>
        </p:spPr>
      </p:cxnSp>
      <p:cxnSp>
        <p:nvCxnSpPr>
          <p:cNvPr id="17" name="a"/>
          <p:cNvCxnSpPr/>
          <p:nvPr/>
        </p:nvCxnSpPr>
        <p:spPr>
          <a:xfrm>
            <a:off x="9765792" y="2999232"/>
            <a:ext cx="0" cy="548640"/>
          </a:xfrm>
          <a:prstGeom prst="line">
            <a:avLst/>
          </a:prstGeom>
          <a:ln w="9525">
            <a:solidFill>
              <a:srgbClr val="5A6570"/>
            </a:solidFill>
            <a:tailEnd type="triangle" w="med" len="med"/>
          </a:ln>
        </p:spPr>
      </p:cxnSp>
      <p:sp>
        <p:nvSpPr>
          <p:cNvPr id="18" name="b"/>
          <p:cNvSpPr/>
          <p:nvPr/>
        </p:nvSpPr>
        <p:spPr>
          <a:xfrm>
            <a:off x="713232" y="3547872"/>
            <a:ext cx="10765536" cy="987552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x"/>
          <p:cNvSpPr txBox="1"/>
          <p:nvPr/>
        </p:nvSpPr>
        <p:spPr>
          <a:xfrm>
            <a:off x="804672" y="3547872"/>
            <a:ext cx="10582656" cy="9875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 spc="0">
                <a:solidFill>
                  <a:srgbClr val="FFFFFF"/>
                </a:solidFill>
                <a:latin typeface="Roboto"/>
                <a:cs typeface="Roboto"/>
              </a:rPr>
              <a:t>The platform</a:t>
            </a:r>
          </a:p>
          <a:p>
            <a:pPr algn="ctr" marL="0" indent="0">
              <a:lnSpc>
                <a:spcPct val="104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980" b="0" i="0" dirty="0" spc="0">
                <a:solidFill>
                  <a:srgbClr val="D6E7F2"/>
                </a:solidFill>
                <a:latin typeface="Roboto"/>
                <a:cs typeface="Roboto"/>
              </a:rPr>
              <a:t>decides which assistant answers  ·  searches the documents  ·  calls the tools  ·  records who asked and what it cost</a:t>
            </a:r>
          </a:p>
        </p:txBody>
      </p:sp>
      <p:cxnSp>
        <p:nvCxnSpPr>
          <p:cNvPr id="20" name="a2"/>
          <p:cNvCxnSpPr/>
          <p:nvPr/>
        </p:nvCxnSpPr>
        <p:spPr>
          <a:xfrm>
            <a:off x="1976628" y="4535424"/>
            <a:ext cx="0" cy="420624"/>
          </a:xfrm>
          <a:prstGeom prst="line">
            <a:avLst/>
          </a:prstGeom>
          <a:ln w="9525">
            <a:solidFill>
              <a:srgbClr val="5A6570"/>
            </a:solidFill>
            <a:tailEnd type="triangle" w="med" len="med"/>
          </a:ln>
        </p:spPr>
      </p:cxnSp>
      <p:cxnSp>
        <p:nvCxnSpPr>
          <p:cNvPr id="21" name="a2"/>
          <p:cNvCxnSpPr/>
          <p:nvPr/>
        </p:nvCxnSpPr>
        <p:spPr>
          <a:xfrm>
            <a:off x="4722876" y="4535424"/>
            <a:ext cx="0" cy="420624"/>
          </a:xfrm>
          <a:prstGeom prst="line">
            <a:avLst/>
          </a:prstGeom>
          <a:ln w="9525">
            <a:solidFill>
              <a:srgbClr val="5A6570"/>
            </a:solidFill>
            <a:tailEnd type="triangle" w="med" len="med"/>
          </a:ln>
        </p:spPr>
      </p:cxnSp>
      <p:cxnSp>
        <p:nvCxnSpPr>
          <p:cNvPr id="22" name="a2"/>
          <p:cNvCxnSpPr/>
          <p:nvPr/>
        </p:nvCxnSpPr>
        <p:spPr>
          <a:xfrm>
            <a:off x="7469124" y="4535424"/>
            <a:ext cx="0" cy="420624"/>
          </a:xfrm>
          <a:prstGeom prst="line">
            <a:avLst/>
          </a:prstGeom>
          <a:ln w="9525">
            <a:solidFill>
              <a:srgbClr val="5A6570"/>
            </a:solidFill>
            <a:tailEnd type="triangle" w="med" len="med"/>
          </a:ln>
        </p:spPr>
      </p:cxnSp>
      <p:cxnSp>
        <p:nvCxnSpPr>
          <p:cNvPr id="23" name="a2"/>
          <p:cNvCxnSpPr/>
          <p:nvPr/>
        </p:nvCxnSpPr>
        <p:spPr>
          <a:xfrm>
            <a:off x="10215372" y="4535424"/>
            <a:ext cx="0" cy="420624"/>
          </a:xfrm>
          <a:prstGeom prst="line">
            <a:avLst/>
          </a:prstGeom>
          <a:ln w="9525">
            <a:solidFill>
              <a:srgbClr val="5A6570"/>
            </a:solidFill>
            <a:tailEnd type="triangle" w="med" len="med"/>
          </a:ln>
        </p:spPr>
      </p:cxnSp>
      <p:sp>
        <p:nvSpPr>
          <p:cNvPr id="24" name="b"/>
          <p:cNvSpPr/>
          <p:nvPr/>
        </p:nvSpPr>
        <p:spPr>
          <a:xfrm>
            <a:off x="713232" y="4956048"/>
            <a:ext cx="252679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tx"/>
          <p:cNvSpPr txBox="1"/>
          <p:nvPr/>
        </p:nvSpPr>
        <p:spPr>
          <a:xfrm>
            <a:off x="804672" y="4956048"/>
            <a:ext cx="2343912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Tools</a:t>
            </a:r>
          </a:p>
          <a:p>
            <a:pPr algn="ctr" marL="0" indent="0">
              <a:lnSpc>
                <a:spcPct val="104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weather, web search, more</a:t>
            </a:r>
          </a:p>
        </p:txBody>
      </p:sp>
      <p:sp>
        <p:nvSpPr>
          <p:cNvPr id="26" name="b"/>
          <p:cNvSpPr/>
          <p:nvPr/>
        </p:nvSpPr>
        <p:spPr>
          <a:xfrm>
            <a:off x="3459480" y="4956048"/>
            <a:ext cx="252679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cp"/>
          <p:cNvSpPr/>
          <p:nvPr/>
        </p:nvSpPr>
        <p:spPr>
          <a:xfrm>
            <a:off x="3459480" y="4956048"/>
            <a:ext cx="2526792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x"/>
          <p:cNvSpPr txBox="1"/>
          <p:nvPr/>
        </p:nvSpPr>
        <p:spPr>
          <a:xfrm>
            <a:off x="3550920" y="4956048"/>
            <a:ext cx="2343912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Knowledge bases</a:t>
            </a:r>
          </a:p>
          <a:p>
            <a:pPr algn="ctr" marL="0" indent="0">
              <a:lnSpc>
                <a:spcPct val="104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one per assistant</a:t>
            </a:r>
          </a:p>
        </p:txBody>
      </p:sp>
      <p:sp>
        <p:nvSpPr>
          <p:cNvPr id="29" name="b"/>
          <p:cNvSpPr/>
          <p:nvPr/>
        </p:nvSpPr>
        <p:spPr>
          <a:xfrm>
            <a:off x="6205728" y="4956048"/>
            <a:ext cx="252679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x"/>
          <p:cNvSpPr txBox="1"/>
          <p:nvPr/>
        </p:nvSpPr>
        <p:spPr>
          <a:xfrm>
            <a:off x="6297168" y="4956048"/>
            <a:ext cx="2343912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Database</a:t>
            </a:r>
          </a:p>
          <a:p>
            <a:pPr algn="ctr" marL="0" indent="0">
              <a:lnSpc>
                <a:spcPct val="104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conversations, settings, usage</a:t>
            </a:r>
          </a:p>
        </p:txBody>
      </p:sp>
      <p:sp>
        <p:nvSpPr>
          <p:cNvPr id="31" name="b"/>
          <p:cNvSpPr/>
          <p:nvPr/>
        </p:nvSpPr>
        <p:spPr>
          <a:xfrm>
            <a:off x="8951976" y="4956048"/>
            <a:ext cx="252679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x"/>
          <p:cNvSpPr txBox="1"/>
          <p:nvPr/>
        </p:nvSpPr>
        <p:spPr>
          <a:xfrm>
            <a:off x="9043416" y="4956048"/>
            <a:ext cx="2343912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 spc="0">
                <a:solidFill>
                  <a:srgbClr val="101418"/>
                </a:solidFill>
                <a:latin typeface="Roboto"/>
                <a:cs typeface="Roboto"/>
              </a:rPr>
              <a:t>AI providers</a:t>
            </a:r>
          </a:p>
          <a:p>
            <a:pPr algn="ctr" marL="0" indent="0">
              <a:lnSpc>
                <a:spcPct val="104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OpenAI, Azure, Gemini, more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FEATURE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Setting up an assistant takes four steps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All of it in a browser. No programming, and nothing is redeployed when it changes.</a:t>
            </a:r>
          </a:p>
        </p:txBody>
      </p:sp>
      <p:sp>
        <p:nvSpPr>
          <p:cNvPr id="6" name="s"/>
          <p:cNvSpPr/>
          <p:nvPr/>
        </p:nvSpPr>
        <p:spPr>
          <a:xfrm>
            <a:off x="713232" y="2176272"/>
            <a:ext cx="1600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sc"/>
          <p:cNvSpPr/>
          <p:nvPr/>
        </p:nvSpPr>
        <p:spPr>
          <a:xfrm>
            <a:off x="713232" y="2176272"/>
            <a:ext cx="1600200" cy="4572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sn"/>
          <p:cNvSpPr txBox="1"/>
          <p:nvPr/>
        </p:nvSpPr>
        <p:spPr>
          <a:xfrm>
            <a:off x="713232" y="23591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 spc="0">
                <a:solidFill>
                  <a:srgbClr val="0E6BA8"/>
                </a:solidFill>
                <a:latin typeface="Roboto"/>
                <a:cs typeface="Roboto"/>
              </a:rPr>
              <a:t>1</a:t>
            </a:r>
          </a:p>
        </p:txBody>
      </p:sp>
      <p:sp>
        <p:nvSpPr>
          <p:cNvPr id="9" name="st"/>
          <p:cNvSpPr txBox="1"/>
          <p:nvPr/>
        </p:nvSpPr>
        <p:spPr>
          <a:xfrm>
            <a:off x="786384" y="2798064"/>
            <a:ext cx="1453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Describe it</a:t>
            </a:r>
          </a:p>
        </p:txBody>
      </p:sp>
      <p:sp>
        <p:nvSpPr>
          <p:cNvPr id="10" name="sd"/>
          <p:cNvSpPr txBox="1"/>
          <p:nvPr/>
        </p:nvSpPr>
        <p:spPr>
          <a:xfrm>
            <a:off x="804672" y="3163824"/>
            <a:ext cx="14173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b="0" i="0" dirty="0" spc="0">
                <a:solidFill>
                  <a:srgbClr val="5A6570"/>
                </a:solidFill>
                <a:latin typeface="Roboto"/>
                <a:cs typeface="Roboto"/>
              </a:rPr>
              <a:t>Give it a name, write what it should do, pick the AI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b="0" i="0" dirty="0" spc="0">
                <a:solidFill>
                  <a:srgbClr val="5A6570"/>
                </a:solidFill>
                <a:latin typeface="Roboto"/>
                <a:cs typeface="Roboto"/>
              </a:rPr>
              <a:t>model.</a:t>
            </a:r>
          </a:p>
        </p:txBody>
      </p:sp>
      <p:sp>
        <p:nvSpPr>
          <p:cNvPr id="11" name="s"/>
          <p:cNvSpPr/>
          <p:nvPr/>
        </p:nvSpPr>
        <p:spPr>
          <a:xfrm>
            <a:off x="2496312" y="2176272"/>
            <a:ext cx="1600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sc"/>
          <p:cNvSpPr/>
          <p:nvPr/>
        </p:nvSpPr>
        <p:spPr>
          <a:xfrm>
            <a:off x="2496312" y="2176272"/>
            <a:ext cx="1600200" cy="4572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n"/>
          <p:cNvSpPr txBox="1"/>
          <p:nvPr/>
        </p:nvSpPr>
        <p:spPr>
          <a:xfrm>
            <a:off x="2496312" y="23591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 spc="0">
                <a:solidFill>
                  <a:srgbClr val="0E6BA8"/>
                </a:solidFill>
                <a:latin typeface="Roboto"/>
                <a:cs typeface="Roboto"/>
              </a:rPr>
              <a:t>2</a:t>
            </a:r>
          </a:p>
        </p:txBody>
      </p:sp>
      <p:sp>
        <p:nvSpPr>
          <p:cNvPr id="14" name="st"/>
          <p:cNvSpPr txBox="1"/>
          <p:nvPr/>
        </p:nvSpPr>
        <p:spPr>
          <a:xfrm>
            <a:off x="2569464" y="2798064"/>
            <a:ext cx="1453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Feed it</a:t>
            </a:r>
          </a:p>
        </p:txBody>
      </p:sp>
      <p:sp>
        <p:nvSpPr>
          <p:cNvPr id="15" name="sd"/>
          <p:cNvSpPr txBox="1"/>
          <p:nvPr/>
        </p:nvSpPr>
        <p:spPr>
          <a:xfrm>
            <a:off x="2587752" y="3163824"/>
            <a:ext cx="14173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b="0" i="0" dirty="0" spc="0">
                <a:solidFill>
                  <a:srgbClr val="5A6570"/>
                </a:solidFill>
                <a:latin typeface="Roboto"/>
                <a:cs typeface="Roboto"/>
              </a:rPr>
              <a:t>Upload the documents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b="0" i="0" dirty="0" spc="0">
                <a:solidFill>
                  <a:srgbClr val="5A6570"/>
                </a:solidFill>
                <a:latin typeface="Roboto"/>
                <a:cs typeface="Roboto"/>
              </a:rPr>
              <a:t>it should answer from.</a:t>
            </a:r>
          </a:p>
        </p:txBody>
      </p:sp>
      <p:sp>
        <p:nvSpPr>
          <p:cNvPr id="16" name="s"/>
          <p:cNvSpPr/>
          <p:nvPr/>
        </p:nvSpPr>
        <p:spPr>
          <a:xfrm>
            <a:off x="4279392" y="2176272"/>
            <a:ext cx="1600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sc"/>
          <p:cNvSpPr/>
          <p:nvPr/>
        </p:nvSpPr>
        <p:spPr>
          <a:xfrm>
            <a:off x="4279392" y="2176272"/>
            <a:ext cx="1600200" cy="4572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sn"/>
          <p:cNvSpPr txBox="1"/>
          <p:nvPr/>
        </p:nvSpPr>
        <p:spPr>
          <a:xfrm>
            <a:off x="4279392" y="23591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 spc="0">
                <a:solidFill>
                  <a:srgbClr val="0E6BA8"/>
                </a:solidFill>
                <a:latin typeface="Roboto"/>
                <a:cs typeface="Roboto"/>
              </a:rPr>
              <a:t>3</a:t>
            </a:r>
          </a:p>
        </p:txBody>
      </p:sp>
      <p:sp>
        <p:nvSpPr>
          <p:cNvPr id="19" name="st"/>
          <p:cNvSpPr txBox="1"/>
          <p:nvPr/>
        </p:nvSpPr>
        <p:spPr>
          <a:xfrm>
            <a:off x="4352544" y="2798064"/>
            <a:ext cx="1453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Equip it</a:t>
            </a:r>
          </a:p>
        </p:txBody>
      </p:sp>
      <p:sp>
        <p:nvSpPr>
          <p:cNvPr id="20" name="sd"/>
          <p:cNvSpPr txBox="1"/>
          <p:nvPr/>
        </p:nvSpPr>
        <p:spPr>
          <a:xfrm>
            <a:off x="4370832" y="3163824"/>
            <a:ext cx="14173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b="0" i="0" dirty="0" spc="0">
                <a:solidFill>
                  <a:srgbClr val="5A6570"/>
                </a:solidFill>
                <a:latin typeface="Roboto"/>
                <a:cs typeface="Roboto"/>
              </a:rPr>
              <a:t>Tick the tools it may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b="0" i="0" dirty="0" spc="0">
                <a:solidFill>
                  <a:srgbClr val="5A6570"/>
                </a:solidFill>
                <a:latin typeface="Roboto"/>
                <a:cs typeface="Roboto"/>
              </a:rPr>
              <a:t>use, and any specialist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b="0" i="0" dirty="0" spc="0">
                <a:solidFill>
                  <a:srgbClr val="5A6570"/>
                </a:solidFill>
                <a:latin typeface="Roboto"/>
                <a:cs typeface="Roboto"/>
              </a:rPr>
              <a:t>assistants it can ask.</a:t>
            </a:r>
          </a:p>
        </p:txBody>
      </p:sp>
      <p:sp>
        <p:nvSpPr>
          <p:cNvPr id="21" name="s"/>
          <p:cNvSpPr/>
          <p:nvPr/>
        </p:nvSpPr>
        <p:spPr>
          <a:xfrm>
            <a:off x="6062472" y="2176272"/>
            <a:ext cx="1600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sc"/>
          <p:cNvSpPr/>
          <p:nvPr/>
        </p:nvSpPr>
        <p:spPr>
          <a:xfrm>
            <a:off x="6062472" y="2176272"/>
            <a:ext cx="1600200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sn"/>
          <p:cNvSpPr txBox="1"/>
          <p:nvPr/>
        </p:nvSpPr>
        <p:spPr>
          <a:xfrm>
            <a:off x="6062472" y="23591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 spc="0">
                <a:solidFill>
                  <a:srgbClr val="C2410C"/>
                </a:solidFill>
                <a:latin typeface="Roboto"/>
                <a:cs typeface="Roboto"/>
              </a:rPr>
              <a:t>4</a:t>
            </a:r>
          </a:p>
        </p:txBody>
      </p:sp>
      <p:sp>
        <p:nvSpPr>
          <p:cNvPr id="24" name="st"/>
          <p:cNvSpPr txBox="1"/>
          <p:nvPr/>
        </p:nvSpPr>
        <p:spPr>
          <a:xfrm>
            <a:off x="6135624" y="2798064"/>
            <a:ext cx="1453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Release it</a:t>
            </a:r>
          </a:p>
        </p:txBody>
      </p:sp>
      <p:sp>
        <p:nvSpPr>
          <p:cNvPr id="25" name="sd"/>
          <p:cNvSpPr txBox="1"/>
          <p:nvPr/>
        </p:nvSpPr>
        <p:spPr>
          <a:xfrm>
            <a:off x="6153912" y="3163824"/>
            <a:ext cx="14173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b="0" i="0" dirty="0" spc="0">
                <a:solidFill>
                  <a:srgbClr val="5A6570"/>
                </a:solidFill>
                <a:latin typeface="Roboto"/>
                <a:cs typeface="Roboto"/>
              </a:rPr>
              <a:t>Choose who is allowed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b="0" i="0" dirty="0" spc="0">
                <a:solidFill>
                  <a:srgbClr val="5A6570"/>
                </a:solidFill>
                <a:latin typeface="Roboto"/>
                <a:cs typeface="Roboto"/>
              </a:rPr>
              <a:t>to use it, and publish.</a:t>
            </a:r>
          </a:p>
        </p:txBody>
      </p:sp>
      <p:pic>
        <p:nvPicPr>
          <p:cNvPr id="26" name="create"/>
          <p:cNvPicPr>
            <a:picLocks noChangeAspect="1"/>
          </p:cNvPicPr>
          <p:nvPr/>
        </p:nvPicPr>
        <p:blipFill>
          <a:blip r:embed="rId3"/>
          <a:srcRect l="14972" t="2000" r="28259" b="0"/>
          <a:stretch>
            <a:fillRect/>
          </a:stretch>
        </p:blipFill>
        <p:spPr>
          <a:xfrm>
            <a:off x="8503920" y="2176272"/>
            <a:ext cx="2971800" cy="2880359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27" name="cap"/>
          <p:cNvSpPr txBox="1"/>
          <p:nvPr/>
        </p:nvSpPr>
        <p:spPr>
          <a:xfrm>
            <a:off x="8503920" y="5138927"/>
            <a:ext cx="29718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Step 1 on screen — including the list of AI providers.</a:t>
            </a:r>
          </a:p>
        </p:txBody>
      </p:sp>
      <p:sp>
        <p:nvSpPr>
          <p:cNvPr id="28" name="n"/>
          <p:cNvSpPr/>
          <p:nvPr/>
        </p:nvSpPr>
        <p:spPr>
          <a:xfrm>
            <a:off x="713232" y="5138928"/>
            <a:ext cx="7589520" cy="932688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nb"/>
          <p:cNvSpPr/>
          <p:nvPr/>
        </p:nvSpPr>
        <p:spPr>
          <a:xfrm>
            <a:off x="713232" y="5138928"/>
            <a:ext cx="45720" cy="932688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nt"/>
          <p:cNvSpPr txBox="1"/>
          <p:nvPr/>
        </p:nvSpPr>
        <p:spPr>
          <a:xfrm>
            <a:off x="950976" y="5138928"/>
            <a:ext cx="7132320" cy="9326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Why this matters. </a:t>
            </a:r>
            <a:r>
              <a:rPr lang="en-US" sz="1200" b="0" i="0" dirty="0" spc="0">
                <a:solidFill>
                  <a:srgbClr val="5A6570"/>
                </a:solidFill>
                <a:latin typeface="Roboto"/>
                <a:cs typeface="Roboto"/>
              </a:rPr>
              <a:t>On most platforms, changing which AI model an assistant uses, or giving it a new tool, is a developer task and a release. Here it is a dropdown and a Save button — which is what makes it usable by the people who own the content, not just the people who write the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FEATURE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Answers from your documents — with the source shown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The same question, asked of two assistants. Only one has the document.</a:t>
            </a:r>
          </a:p>
        </p:txBody>
      </p:sp>
      <p:sp>
        <p:nvSpPr>
          <p:cNvPr id="6" name="l1"/>
          <p:cNvSpPr txBox="1"/>
          <p:nvPr/>
        </p:nvSpPr>
        <p:spPr>
          <a:xfrm>
            <a:off x="713232" y="2084832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dirty="0" spc="140">
                <a:solidFill>
                  <a:srgbClr val="C2410C"/>
                </a:solidFill>
                <a:latin typeface="Roboto"/>
                <a:cs typeface="Roboto"/>
              </a:rPr>
              <a:t>ASSISTANT WITHOUT THE DOCUMENT</a:t>
            </a:r>
          </a:p>
        </p:txBody>
      </p:sp>
      <p:sp>
        <p:nvSpPr>
          <p:cNvPr id="7" name="l2"/>
          <p:cNvSpPr txBox="1"/>
          <p:nvPr/>
        </p:nvSpPr>
        <p:spPr>
          <a:xfrm>
            <a:off x="6355080" y="2084832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dirty="0" spc="140">
                <a:solidFill>
                  <a:srgbClr val="0E6BA8"/>
                </a:solidFill>
                <a:latin typeface="Roboto"/>
                <a:cs typeface="Roboto"/>
              </a:rPr>
              <a:t>SAME QUESTION, ASSISTANT WITH THE DOCUMENT</a:t>
            </a:r>
          </a:p>
        </p:txBody>
      </p:sp>
      <p:pic>
        <p:nvPicPr>
          <p:cNvPr id="8" name="noctx"/>
          <p:cNvPicPr>
            <a:picLocks noChangeAspect="1"/>
          </p:cNvPicPr>
          <p:nvPr/>
        </p:nvPicPr>
        <p:blipFill>
          <a:blip r:embed="rId3"/>
          <a:srcRect l="34375" t="15625" r="21125" b="46429"/>
          <a:stretch>
            <a:fillRect/>
          </a:stretch>
        </p:blipFill>
        <p:spPr>
          <a:xfrm>
            <a:off x="713232" y="2359152"/>
            <a:ext cx="5120640" cy="2445249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pic>
        <p:nvPicPr>
          <p:cNvPr id="9" name="cited"/>
          <p:cNvPicPr>
            <a:picLocks noChangeAspect="1"/>
          </p:cNvPicPr>
          <p:nvPr/>
        </p:nvPicPr>
        <p:blipFill>
          <a:blip r:embed="rId4"/>
          <a:srcRect l="34500" t="16797" r="20750" b="45129"/>
          <a:stretch>
            <a:fillRect/>
          </a:stretch>
        </p:blipFill>
        <p:spPr>
          <a:xfrm>
            <a:off x="6355080" y="2359152"/>
            <a:ext cx="5120640" cy="2431588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10" name="cap"/>
          <p:cNvSpPr txBox="1"/>
          <p:nvPr/>
        </p:nvSpPr>
        <p:spPr>
          <a:xfrm>
            <a:off x="713232" y="4919472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It says it doesn't know, instead of inventing an answer.</a:t>
            </a:r>
          </a:p>
        </p:txBody>
      </p:sp>
      <p:sp>
        <p:nvSpPr>
          <p:cNvPr id="11" name="cap"/>
          <p:cNvSpPr txBox="1"/>
          <p:nvPr/>
        </p:nvSpPr>
        <p:spPr>
          <a:xfrm>
            <a:off x="6355080" y="4919472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It answers — and the [1] marks which document it came from.</a:t>
            </a:r>
          </a:p>
        </p:txBody>
      </p:sp>
      <p:sp>
        <p:nvSpPr>
          <p:cNvPr id="12" name="c"/>
          <p:cNvSpPr/>
          <p:nvPr/>
        </p:nvSpPr>
        <p:spPr>
          <a:xfrm>
            <a:off x="713232" y="5413248"/>
            <a:ext cx="10765536" cy="73152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b"/>
          <p:cNvSpPr/>
          <p:nvPr/>
        </p:nvSpPr>
        <p:spPr>
          <a:xfrm>
            <a:off x="713232" y="5413248"/>
            <a:ext cx="45720" cy="73152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t"/>
          <p:cNvSpPr txBox="1"/>
          <p:nvPr/>
        </p:nvSpPr>
        <p:spPr>
          <a:xfrm>
            <a:off x="950976" y="5413248"/>
            <a:ext cx="10262616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0" b="1" i="0" dirty="0" spc="0">
                <a:solidFill>
                  <a:srgbClr val="101418"/>
                </a:solidFill>
                <a:latin typeface="Roboto"/>
                <a:cs typeface="Roboto"/>
              </a:rPr>
              <a:t>Two features in one picture. </a:t>
            </a:r>
            <a:r>
              <a:rPr lang="en-US" sz="1180" b="0" i="0" dirty="0" spc="0">
                <a:solidFill>
                  <a:srgbClr val="5A6570"/>
                </a:solidFill>
                <a:latin typeface="Roboto"/>
                <a:cs typeface="Roboto"/>
              </a:rPr>
              <a:t>Answers are grounded in your documents and carry a source the reader can check — and each assistant is limited to its own documents, so one cannot reach into another's.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FEATURE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Using real tools — and replying with a screen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An assistant can fetch live information, and for some tasks it answers with something you can use.</a:t>
            </a:r>
          </a:p>
        </p:txBody>
      </p:sp>
      <p:sp>
        <p:nvSpPr>
          <p:cNvPr id="6" name="l1"/>
          <p:cNvSpPr txBox="1"/>
          <p:nvPr/>
        </p:nvSpPr>
        <p:spPr>
          <a:xfrm>
            <a:off x="713232" y="2066544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dirty="0" spc="140">
                <a:solidFill>
                  <a:srgbClr val="0E6BA8"/>
                </a:solidFill>
                <a:latin typeface="Roboto"/>
                <a:cs typeface="Roboto"/>
              </a:rPr>
              <a:t>USING A TOOL</a:t>
            </a:r>
          </a:p>
        </p:txBody>
      </p:sp>
      <p:pic>
        <p:nvPicPr>
          <p:cNvPr id="7" name="weather"/>
          <p:cNvPicPr>
            <a:picLocks noChangeAspect="1"/>
          </p:cNvPicPr>
          <p:nvPr/>
        </p:nvPicPr>
        <p:blipFill>
          <a:blip r:embed="rId3"/>
          <a:srcRect l="36250" t="50056" r="23125" b="19355"/>
          <a:stretch>
            <a:fillRect/>
          </a:stretch>
        </p:blipFill>
        <p:spPr>
          <a:xfrm>
            <a:off x="713232" y="2340864"/>
            <a:ext cx="5120640" cy="2166424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8" name="cap"/>
          <p:cNvSpPr txBox="1"/>
          <p:nvPr/>
        </p:nvSpPr>
        <p:spPr>
          <a:xfrm>
            <a:off x="713232" y="4589584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Asked for the weather, it calls a live service and shows the result as a card.</a:t>
            </a:r>
          </a:p>
        </p:txBody>
      </p:sp>
      <p:sp>
        <p:nvSpPr>
          <p:cNvPr id="9" name="b"/>
          <p:cNvSpPr txBox="1"/>
          <p:nvPr/>
        </p:nvSpPr>
        <p:spPr>
          <a:xfrm>
            <a:off x="713232" y="4443984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75"/>
              </a:spcAft>
              <a:buClr>
                <a:srgbClr val="0E6BA8"/>
              </a:buClr>
              <a:buFont typeface="Arial"/>
              <a:buChar char="▪"/>
            </a:pPr>
            <a:r>
              <a:rPr lang="en-US" sz="1120" b="1" i="0" dirty="0" spc="0">
                <a:solidFill>
                  <a:srgbClr val="101418"/>
                </a:solidFill>
                <a:latin typeface="Roboto"/>
                <a:cs typeface="Roboto"/>
              </a:rPr>
              <a:t>Any tool, one connector.</a:t>
            </a:r>
            <a:r>
              <a:rPr lang="en-US" sz="1120" b="0" i="0" dirty="0" spc="0">
                <a:solidFill>
                  <a:srgbClr val="5A6570"/>
                </a:solidFill>
                <a:latin typeface="Roboto"/>
                <a:cs typeface="Roboto"/>
              </a:rPr>
              <a:t> Weather and web search today; anything else plugs in the same way.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75"/>
              </a:spcAft>
              <a:buClr>
                <a:srgbClr val="0E6BA8"/>
              </a:buClr>
              <a:buFont typeface="Arial"/>
              <a:buChar char="▪"/>
            </a:pPr>
            <a:r>
              <a:rPr lang="en-US" sz="1120" b="1" i="0" dirty="0" spc="0">
                <a:solidFill>
                  <a:srgbClr val="101418"/>
                </a:solidFill>
                <a:latin typeface="Roboto"/>
                <a:cs typeface="Roboto"/>
              </a:rPr>
              <a:t>Specialists on call.</a:t>
            </a:r>
            <a:r>
              <a:rPr lang="en-US" sz="1120" b="0" i="0" dirty="0" spc="0">
                <a:solidFill>
                  <a:srgbClr val="5A6570"/>
                </a:solidFill>
                <a:latin typeface="Roboto"/>
                <a:cs typeface="Roboto"/>
              </a:rPr>
              <a:t> An assistant can also hand a question to another assistant, automatically.</a:t>
            </a:r>
          </a:p>
        </p:txBody>
      </p:sp>
      <p:sp>
        <p:nvSpPr>
          <p:cNvPr id="10" name="l2"/>
          <p:cNvSpPr txBox="1"/>
          <p:nvPr/>
        </p:nvSpPr>
        <p:spPr>
          <a:xfrm>
            <a:off x="6355080" y="2066544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dirty="0" spc="140">
                <a:solidFill>
                  <a:srgbClr val="C2410C"/>
                </a:solidFill>
                <a:latin typeface="Roboto"/>
                <a:cs typeface="Roboto"/>
              </a:rPr>
              <a:t>REPLYING WITH A SCREEN</a:t>
            </a:r>
          </a:p>
        </p:txBody>
      </p:sp>
      <p:pic>
        <p:nvPicPr>
          <p:cNvPr id="11" name="trip"/>
          <p:cNvPicPr>
            <a:picLocks noChangeAspect="1"/>
          </p:cNvPicPr>
          <p:nvPr/>
        </p:nvPicPr>
        <p:blipFill>
          <a:blip r:embed="rId4"/>
          <a:srcRect l="36563" t="27803" r="35313" b="10874"/>
          <a:stretch>
            <a:fillRect/>
          </a:stretch>
        </p:blipFill>
        <p:spPr>
          <a:xfrm>
            <a:off x="6355080" y="2340864"/>
            <a:ext cx="2103120" cy="2556459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12" name="cap"/>
          <p:cNvSpPr txBox="1"/>
          <p:nvPr/>
        </p:nvSpPr>
        <p:spPr>
          <a:xfrm>
            <a:off x="6355080" y="4979619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Asked to plan a trip, it
replies with a form.</a:t>
            </a:r>
          </a:p>
        </p:txBody>
      </p:sp>
      <p:sp>
        <p:nvSpPr>
          <p:cNvPr id="13" name="b"/>
          <p:cNvSpPr txBox="1"/>
          <p:nvPr/>
        </p:nvSpPr>
        <p:spPr>
          <a:xfrm>
            <a:off x="8915400" y="2340864"/>
            <a:ext cx="256032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6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080" b="1" i="0" dirty="0" spc="0">
                <a:solidFill>
                  <a:srgbClr val="101418"/>
                </a:solidFill>
                <a:latin typeface="Roboto"/>
                <a:cs typeface="Roboto"/>
              </a:rPr>
              <a:t>A working form.</a:t>
            </a:r>
            <a:r>
              <a:rPr lang="en-US" sz="1080" b="0" i="0" dirty="0" spc="0">
                <a:solidFill>
                  <a:srgbClr val="5A6570"/>
                </a:solidFill>
                <a:latin typeface="Roboto"/>
                <a:cs typeface="Roboto"/>
              </a:rPr>
              <a:t> Tabs, dates, a slider — the user fills it in and submits, and the conversation continues.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6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080" b="1" i="0" dirty="0" spc="0">
                <a:solidFill>
                  <a:srgbClr val="101418"/>
                </a:solidFill>
                <a:latin typeface="Roboto"/>
                <a:cs typeface="Roboto"/>
              </a:rPr>
              <a:t>No custom code.</a:t>
            </a:r>
            <a:r>
              <a:rPr lang="en-US" sz="1080" b="0" i="0" dirty="0" spc="0">
                <a:solidFill>
                  <a:srgbClr val="5A6570"/>
                </a:solidFill>
                <a:latin typeface="Roboto"/>
                <a:cs typeface="Roboto"/>
              </a:rPr>
              <a:t> The assistant describes the screen; the app draws it. New tasks need no new development.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6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080" b="1" i="0" dirty="0" spc="0">
                <a:solidFill>
                  <a:srgbClr val="101418"/>
                </a:solidFill>
                <a:latin typeface="Roboto"/>
                <a:cs typeface="Roboto"/>
              </a:rPr>
              <a:t>Taught by a skill.</a:t>
            </a:r>
            <a:r>
              <a:rPr lang="en-US" sz="1080" b="0" i="0" dirty="0" spc="0">
                <a:solidFill>
                  <a:srgbClr val="5A6570"/>
                </a:solidFill>
                <a:latin typeface="Roboto"/>
                <a:cs typeface="Roboto"/>
              </a:rPr>
              <a:t> The trip-planning pack is uploaded once and switched on per assistant.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FEATURE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Staying in control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The features that decide whether something like this is allowed near real company data.</a:t>
            </a:r>
          </a:p>
        </p:txBody>
      </p:sp>
      <p:sp>
        <p:nvSpPr>
          <p:cNvPr id="6" name="b"/>
          <p:cNvSpPr txBox="1"/>
          <p:nvPr/>
        </p:nvSpPr>
        <p:spPr>
          <a:xfrm>
            <a:off x="713232" y="2194560"/>
            <a:ext cx="6400800" cy="3840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215"/>
              </a:spcAft>
              <a:buClr>
                <a:srgbClr val="0E6BA8"/>
              </a:buClr>
              <a:buFont typeface="Arial"/>
              <a:buChar char="▪"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Who may use what.</a:t>
            </a:r>
            <a:r>
              <a:rPr lang="en-US" sz="1200" b="0" i="0" dirty="0" spc="0">
                <a:solidFill>
                  <a:srgbClr val="5A6570"/>
                </a:solidFill>
                <a:latin typeface="Roboto"/>
                <a:cs typeface="Roboto"/>
              </a:rPr>
              <a:t> Each assistant is granted to specific groups of people. Someone without permission cannot open it — and cannot reach it indirectly through another assistant either.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215"/>
              </a:spcAft>
              <a:buClr>
                <a:srgbClr val="0E6BA8"/>
              </a:buClr>
              <a:buFont typeface="Arial"/>
              <a:buChar char="▪"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What everything costs.</a:t>
            </a:r>
            <a:r>
              <a:rPr lang="en-US" sz="1200" b="0" i="0" dirty="0" spc="0">
                <a:solidFill>
                  <a:srgbClr val="5A6570"/>
                </a:solidFill>
                <a:latin typeface="Roboto"/>
                <a:cs typeface="Roboto"/>
              </a:rPr>
              <a:t> Every request records its usage against a user, including visitors who are not signed in. Administrators see the totals.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215"/>
              </a:spcAft>
              <a:buClr>
                <a:srgbClr val="0E6BA8"/>
              </a:buClr>
              <a:buFont typeface="Arial"/>
              <a:buChar char="▪"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Limits for the public.</a:t>
            </a:r>
            <a:r>
              <a:rPr lang="en-US" sz="1200" b="0" i="0" dirty="0" spc="0">
                <a:solidFill>
                  <a:srgbClr val="5A6570"/>
                </a:solidFill>
                <a:latin typeface="Roboto"/>
                <a:cs typeface="Roboto"/>
              </a:rPr>
              <a:t> If an assistant is opened to the internet, unregistered visitors get a capped number of messages.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215"/>
              </a:spcAft>
              <a:buClr>
                <a:srgbClr val="0E6BA8"/>
              </a:buClr>
              <a:buFont typeface="Arial"/>
              <a:buChar char="▪"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Safe by default.</a:t>
            </a:r>
            <a:r>
              <a:rPr lang="en-US" sz="1200" b="0" i="0" dirty="0" spc="0">
                <a:solidFill>
                  <a:srgbClr val="5A6570"/>
                </a:solidFill>
                <a:latin typeface="Roboto"/>
                <a:cs typeface="Roboto"/>
              </a:rPr>
              <a:t> Uploaded skill packs are checked before they are accepted, and can only be uploaded by an administrator.</a:t>
            </a:r>
          </a:p>
        </p:txBody>
      </p:sp>
      <p:pic>
        <p:nvPicPr>
          <p:cNvPr id="7" name="tokens"/>
          <p:cNvPicPr>
            <a:picLocks noChangeAspect="1"/>
          </p:cNvPicPr>
          <p:nvPr/>
        </p:nvPicPr>
        <p:blipFill>
          <a:blip r:embed="rId3"/>
          <a:srcRect l="14688" t="2002" r="2188" b="24917"/>
          <a:stretch>
            <a:fillRect/>
          </a:stretch>
        </p:blipFill>
        <p:spPr>
          <a:xfrm>
            <a:off x="7406640" y="2194560"/>
            <a:ext cx="4160520" cy="2055234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8" name="cap"/>
          <p:cNvSpPr txBox="1"/>
          <p:nvPr/>
        </p:nvSpPr>
        <p:spPr>
          <a:xfrm>
            <a:off x="7406640" y="4341234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Usage and cost per user, including anonymous visitors.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b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n"/>
          <p:cNvSpPr txBox="1"/>
          <p:nvPr/>
        </p:nvSpPr>
        <p:spPr>
          <a:xfrm>
            <a:off x="713232" y="2240280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 spc="0">
                <a:solidFill>
                  <a:srgbClr val="FFFFFF"/>
                </a:solidFill>
                <a:latin typeface="Roboto"/>
                <a:cs typeface="Roboto"/>
              </a:rPr>
              <a:t>4</a:t>
            </a:r>
          </a:p>
        </p:txBody>
      </p:sp>
      <p:cxnSp>
        <p:nvCxnSpPr>
          <p:cNvPr id="5" name="v"/>
          <p:cNvCxnSpPr/>
          <p:nvPr/>
        </p:nvCxnSpPr>
        <p:spPr>
          <a:xfrm>
            <a:off x="1764792" y="2331720"/>
            <a:ext cx="0" cy="123444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6" name="t"/>
          <p:cNvSpPr txBox="1"/>
          <p:nvPr/>
        </p:nvSpPr>
        <p:spPr>
          <a:xfrm>
            <a:off x="2084832" y="2359152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 spc="0">
                <a:solidFill>
                  <a:srgbClr val="FFFFFF"/>
                </a:solidFill>
                <a:latin typeface="Roboto"/>
                <a:cs typeface="Roboto"/>
              </a:rPr>
              <a:t>Live demonstration</a:t>
            </a:r>
          </a:p>
        </p:txBody>
      </p:sp>
      <p:sp>
        <p:nvSpPr>
          <p:cNvPr id="7" name="s"/>
          <p:cNvSpPr txBox="1"/>
          <p:nvPr/>
        </p:nvSpPr>
        <p:spPr>
          <a:xfrm>
            <a:off x="2084832" y="312724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CFE4F0"/>
                </a:solidFill>
                <a:latin typeface="Roboto"/>
                <a:cs typeface="Roboto"/>
              </a:rPr>
              <a:t>The working system, running online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DEMONSTRATION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What you are about to see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Six steps, about four minutes, on the deployed system. Each one is a feature from the last few slides.</a:t>
            </a:r>
          </a:p>
        </p:txBody>
      </p:sp>
      <p:graphicFrame>
        <p:nvGraphicFramePr>
          <p:cNvPr id="6" name="d"/>
          <p:cNvGraphicFramePr>
            <a:graphicFrameLocks noGrp="1"/>
          </p:cNvGraphicFramePr>
          <p:nvPr/>
        </p:nvGraphicFramePr>
        <p:xfrm>
          <a:off x="713232" y="2066544"/>
          <a:ext cx="10762488" cy="3557016"/>
        </p:xfrm>
        <a:graphic>
          <a:graphicData uri="http://schemas.openxmlformats.org/drawingml/2006/table">
            <a:tbl>
              <a:tblPr firstRow="1"/>
              <a:tblGrid>
                <a:gridCol w="457200"/>
                <a:gridCol w="5394960"/>
                <a:gridCol w="4910328"/>
              </a:tblGrid>
              <a:tr h="34747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6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/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6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On screen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6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The feature it shows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1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Signing in to the live, hosted application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It is deployed and running, not a laptop build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2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Creating an assistant — name, model, instructions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Setting one up without code (slide 13)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3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Its tools, its permissions, and its specialists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Capability and delegation are settings, not code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4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The same question to two assistants — one has the document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Answers from your documents, with the source (slide 14)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5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 help desk with no documents, asked a question spanning two departments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It routes to two specialists and combines their answers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6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Asking it to plan a trip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Replying with a working form instead of text (slide 15)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b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n"/>
          <p:cNvSpPr txBox="1"/>
          <p:nvPr/>
        </p:nvSpPr>
        <p:spPr>
          <a:xfrm>
            <a:off x="713232" y="2240280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 spc="0">
                <a:solidFill>
                  <a:srgbClr val="FFFFFF"/>
                </a:solidFill>
                <a:latin typeface="Roboto"/>
                <a:cs typeface="Roboto"/>
              </a:rPr>
              <a:t>5</a:t>
            </a:r>
          </a:p>
        </p:txBody>
      </p:sp>
      <p:cxnSp>
        <p:nvCxnSpPr>
          <p:cNvPr id="5" name="v"/>
          <p:cNvCxnSpPr/>
          <p:nvPr/>
        </p:nvCxnSpPr>
        <p:spPr>
          <a:xfrm>
            <a:off x="1764792" y="2331720"/>
            <a:ext cx="0" cy="123444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6" name="t"/>
          <p:cNvSpPr txBox="1"/>
          <p:nvPr/>
        </p:nvSpPr>
        <p:spPr>
          <a:xfrm>
            <a:off x="2084832" y="2359152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 spc="0">
                <a:solidFill>
                  <a:srgbClr val="FFFFFF"/>
                </a:solidFill>
                <a:latin typeface="Roboto"/>
                <a:cs typeface="Roboto"/>
              </a:rPr>
              <a:t>Progress and next steps</a:t>
            </a:r>
          </a:p>
        </p:txBody>
      </p:sp>
      <p:sp>
        <p:nvSpPr>
          <p:cNvPr id="7" name="s"/>
          <p:cNvSpPr txBox="1"/>
          <p:nvPr/>
        </p:nvSpPr>
        <p:spPr>
          <a:xfrm>
            <a:off x="2084832" y="312724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CFE4F0"/>
                </a:solidFill>
                <a:latin typeface="Roboto"/>
                <a:cs typeface="Roboto"/>
              </a:rPr>
              <a:t>What is working today, what changed along the way, and what remains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PROGRESS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What is working today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Every item below is in the deployed system — not planned, not partial.</a:t>
            </a:r>
          </a:p>
        </p:txBody>
      </p:sp>
      <p:sp>
        <p:nvSpPr>
          <p:cNvPr id="6" name="b"/>
          <p:cNvSpPr txBox="1"/>
          <p:nvPr/>
        </p:nvSpPr>
        <p:spPr>
          <a:xfrm>
            <a:off x="713232" y="2157984"/>
            <a:ext cx="5212080" cy="3108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8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180" b="1" i="0" dirty="0" spc="0">
                <a:solidFill>
                  <a:srgbClr val="101418"/>
                </a:solidFill>
                <a:latin typeface="Roboto"/>
                <a:cs typeface="Roboto"/>
              </a:rPr>
              <a:t>Assistants built in a browser</a:t>
            </a:r>
            <a:r>
              <a:rPr lang="en-US" sz="1180" b="0" i="0" dirty="0" spc="0">
                <a:solidFill>
                  <a:srgbClr val="5A6570"/>
                </a:solidFill>
                <a:latin typeface="Roboto"/>
                <a:cs typeface="Roboto"/>
              </a:rPr>
              <a:t> — model, instructions, documents, tools, permissions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8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180" b="1" i="0" dirty="0" spc="0">
                <a:solidFill>
                  <a:srgbClr val="101418"/>
                </a:solidFill>
                <a:latin typeface="Roboto"/>
                <a:cs typeface="Roboto"/>
              </a:rPr>
              <a:t>Five AI providers</a:t>
            </a:r>
            <a:r>
              <a:rPr lang="en-US" sz="1180" b="0" i="0" dirty="0" spc="0">
                <a:solidFill>
                  <a:srgbClr val="5A6570"/>
                </a:solidFill>
                <a:latin typeface="Roboto"/>
                <a:cs typeface="Roboto"/>
              </a:rPr>
              <a:t> — switchable per assistant from a dropdown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8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180" b="1" i="0" dirty="0" spc="0">
                <a:solidFill>
                  <a:srgbClr val="101418"/>
                </a:solidFill>
                <a:latin typeface="Roboto"/>
                <a:cs typeface="Roboto"/>
              </a:rPr>
              <a:t>Answers from uploaded documents</a:t>
            </a:r>
            <a:r>
              <a:rPr lang="en-US" sz="1180" b="0" i="0" dirty="0" spc="0">
                <a:solidFill>
                  <a:srgbClr val="5A6570"/>
                </a:solidFill>
                <a:latin typeface="Roboto"/>
                <a:cs typeface="Roboto"/>
              </a:rPr>
              <a:t> with the source shown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8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180" b="1" i="0" dirty="0" spc="0">
                <a:solidFill>
                  <a:srgbClr val="101418"/>
                </a:solidFill>
                <a:latin typeface="Roboto"/>
                <a:cs typeface="Roboto"/>
              </a:rPr>
              <a:t>A separate knowledge base per assistant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8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180" b="1" i="0" dirty="0" spc="0">
                <a:solidFill>
                  <a:srgbClr val="101418"/>
                </a:solidFill>
                <a:latin typeface="Roboto"/>
                <a:cs typeface="Roboto"/>
              </a:rPr>
              <a:t>Live tools</a:t>
            </a:r>
            <a:r>
              <a:rPr lang="en-US" sz="1180" b="0" i="0" dirty="0" spc="0">
                <a:solidFill>
                  <a:srgbClr val="5A6570"/>
                </a:solidFill>
                <a:latin typeface="Roboto"/>
                <a:cs typeface="Roboto"/>
              </a:rPr>
              <a:t> — weather and web search, over one standard connector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8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180" b="1" i="0" dirty="0" spc="0">
                <a:solidFill>
                  <a:srgbClr val="101418"/>
                </a:solidFill>
                <a:latin typeface="Roboto"/>
                <a:cs typeface="Roboto"/>
              </a:rPr>
              <a:t>Assistants that call other assistants</a:t>
            </a:r>
            <a:r>
              <a:rPr lang="en-US" sz="1180" b="0" i="0" dirty="0" spc="0">
                <a:solidFill>
                  <a:srgbClr val="5A6570"/>
                </a:solidFill>
                <a:latin typeface="Roboto"/>
                <a:cs typeface="Roboto"/>
              </a:rPr>
              <a:t> for specialist work</a:t>
            </a:r>
          </a:p>
        </p:txBody>
      </p:sp>
      <p:sp>
        <p:nvSpPr>
          <p:cNvPr id="7" name="b"/>
          <p:cNvSpPr txBox="1"/>
          <p:nvPr/>
        </p:nvSpPr>
        <p:spPr>
          <a:xfrm>
            <a:off x="6355080" y="2157984"/>
            <a:ext cx="5120640" cy="3108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8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180" b="1" i="0" dirty="0" spc="0">
                <a:solidFill>
                  <a:srgbClr val="101418"/>
                </a:solidFill>
                <a:latin typeface="Roboto"/>
                <a:cs typeface="Roboto"/>
              </a:rPr>
              <a:t>Replies as working forms and cards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8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180" b="1" i="0" dirty="0" spc="0">
                <a:solidFill>
                  <a:srgbClr val="101418"/>
                </a:solidFill>
                <a:latin typeface="Roboto"/>
                <a:cs typeface="Roboto"/>
              </a:rPr>
              <a:t>Memory across conversations</a:t>
            </a:r>
            <a:r>
              <a:rPr lang="en-US" sz="1180" b="0" i="0" dirty="0" spc="0">
                <a:solidFill>
                  <a:srgbClr val="5A6570"/>
                </a:solidFill>
                <a:latin typeface="Roboto"/>
                <a:cs typeface="Roboto"/>
              </a:rPr>
              <a:t>, switchable by the user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8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180" b="1" i="0" dirty="0" spc="0">
                <a:solidFill>
                  <a:srgbClr val="101418"/>
                </a:solidFill>
                <a:latin typeface="Roboto"/>
                <a:cs typeface="Roboto"/>
              </a:rPr>
              <a:t>Access control by user group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8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180" b="1" i="0" dirty="0" spc="0">
                <a:solidFill>
                  <a:srgbClr val="101418"/>
                </a:solidFill>
                <a:latin typeface="Roboto"/>
                <a:cs typeface="Roboto"/>
              </a:rPr>
              <a:t>Usage and cost tracking per person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8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180" b="1" i="0" dirty="0" spc="0">
                <a:solidFill>
                  <a:srgbClr val="101418"/>
                </a:solidFill>
                <a:latin typeface="Roboto"/>
                <a:cs typeface="Roboto"/>
              </a:rPr>
              <a:t>Conversation sharing, file upload, themes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18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180" b="1" i="0" dirty="0" spc="0">
                <a:solidFill>
                  <a:srgbClr val="101418"/>
                </a:solidFill>
                <a:latin typeface="Roboto"/>
                <a:cs typeface="Roboto"/>
              </a:rPr>
              <a:t>Limits for unregistered visitors</a:t>
            </a:r>
          </a:p>
        </p:txBody>
      </p:sp>
      <p:sp>
        <p:nvSpPr>
          <p:cNvPr id="8" name="c"/>
          <p:cNvSpPr/>
          <p:nvPr/>
        </p:nvSpPr>
        <p:spPr>
          <a:xfrm>
            <a:off x="713232" y="5138928"/>
            <a:ext cx="2487168" cy="960120"/>
          </a:xfrm>
          <a:prstGeom prst="rect">
            <a:avLst/>
          </a:prstGeom>
          <a:solidFill>
            <a:srgbClr val="F4F7F9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p"/>
          <p:cNvSpPr/>
          <p:nvPr/>
        </p:nvSpPr>
        <p:spPr>
          <a:xfrm>
            <a:off x="713232" y="5138928"/>
            <a:ext cx="2487168" cy="50292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n"/>
          <p:cNvSpPr txBox="1"/>
          <p:nvPr/>
        </p:nvSpPr>
        <p:spPr>
          <a:xfrm>
            <a:off x="914400" y="5376672"/>
            <a:ext cx="208483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 spc="0">
                <a:solidFill>
                  <a:srgbClr val="0E6BA8"/>
                </a:solidFill>
                <a:latin typeface="Roboto"/>
                <a:cs typeface="Roboto"/>
              </a:rPr>
              <a:t>500</a:t>
            </a:r>
          </a:p>
        </p:txBody>
      </p:sp>
      <p:sp>
        <p:nvSpPr>
          <p:cNvPr id="11" name="l"/>
          <p:cNvSpPr txBox="1"/>
          <p:nvPr/>
        </p:nvSpPr>
        <p:spPr>
          <a:xfrm>
            <a:off x="914400" y="5961888"/>
            <a:ext cx="2084832" cy="64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 spc="0">
                <a:solidFill>
                  <a:srgbClr val="5A6570"/>
                </a:solidFill>
                <a:latin typeface="Roboto"/>
                <a:cs typeface="Roboto"/>
              </a:rPr>
              <a:t>automated tests</a:t>
            </a:r>
          </a:p>
        </p:txBody>
      </p:sp>
      <p:sp>
        <p:nvSpPr>
          <p:cNvPr id="12" name="c"/>
          <p:cNvSpPr/>
          <p:nvPr/>
        </p:nvSpPr>
        <p:spPr>
          <a:xfrm>
            <a:off x="3474720" y="5138928"/>
            <a:ext cx="2487168" cy="960120"/>
          </a:xfrm>
          <a:prstGeom prst="rect">
            <a:avLst/>
          </a:prstGeom>
          <a:solidFill>
            <a:srgbClr val="F4F7F9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p"/>
          <p:cNvSpPr/>
          <p:nvPr/>
        </p:nvSpPr>
        <p:spPr>
          <a:xfrm>
            <a:off x="3474720" y="5138928"/>
            <a:ext cx="2487168" cy="5029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n"/>
          <p:cNvSpPr txBox="1"/>
          <p:nvPr/>
        </p:nvSpPr>
        <p:spPr>
          <a:xfrm>
            <a:off x="3675888" y="5376672"/>
            <a:ext cx="208483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 spc="0">
                <a:solidFill>
                  <a:srgbClr val="C2410C"/>
                </a:solidFill>
                <a:latin typeface="Roboto"/>
                <a:cs typeface="Roboto"/>
              </a:rPr>
              <a:t>288</a:t>
            </a:r>
          </a:p>
        </p:txBody>
      </p:sp>
      <p:sp>
        <p:nvSpPr>
          <p:cNvPr id="15" name="l"/>
          <p:cNvSpPr txBox="1"/>
          <p:nvPr/>
        </p:nvSpPr>
        <p:spPr>
          <a:xfrm>
            <a:off x="3675888" y="5961888"/>
            <a:ext cx="2084832" cy="64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 spc="0">
                <a:solidFill>
                  <a:srgbClr val="5A6570"/>
                </a:solidFill>
                <a:latin typeface="Roboto"/>
                <a:cs typeface="Roboto"/>
              </a:rPr>
              <a:t>reviewed changes merged</a:t>
            </a:r>
          </a:p>
        </p:txBody>
      </p:sp>
      <p:sp>
        <p:nvSpPr>
          <p:cNvPr id="16" name="c"/>
          <p:cNvSpPr/>
          <p:nvPr/>
        </p:nvSpPr>
        <p:spPr>
          <a:xfrm>
            <a:off x="6236208" y="5138928"/>
            <a:ext cx="2487168" cy="960120"/>
          </a:xfrm>
          <a:prstGeom prst="rect">
            <a:avLst/>
          </a:prstGeom>
          <a:solidFill>
            <a:srgbClr val="F4F7F9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p"/>
          <p:cNvSpPr/>
          <p:nvPr/>
        </p:nvSpPr>
        <p:spPr>
          <a:xfrm>
            <a:off x="6236208" y="5138928"/>
            <a:ext cx="2487168" cy="50292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n"/>
          <p:cNvSpPr txBox="1"/>
          <p:nvPr/>
        </p:nvSpPr>
        <p:spPr>
          <a:xfrm>
            <a:off x="6437376" y="5376672"/>
            <a:ext cx="208483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 spc="0">
                <a:solidFill>
                  <a:srgbClr val="0E6BA8"/>
                </a:solidFill>
                <a:latin typeface="Roboto"/>
                <a:cs typeface="Roboto"/>
              </a:rPr>
              <a:t>9</a:t>
            </a:r>
          </a:p>
        </p:txBody>
      </p:sp>
      <p:sp>
        <p:nvSpPr>
          <p:cNvPr id="19" name="l"/>
          <p:cNvSpPr txBox="1"/>
          <p:nvPr/>
        </p:nvSpPr>
        <p:spPr>
          <a:xfrm>
            <a:off x="6437376" y="5961888"/>
            <a:ext cx="2084832" cy="64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 spc="0">
                <a:solidFill>
                  <a:srgbClr val="5A6570"/>
                </a:solidFill>
                <a:latin typeface="Roboto"/>
                <a:cs typeface="Roboto"/>
              </a:rPr>
              <a:t>services running together</a:t>
            </a:r>
          </a:p>
        </p:txBody>
      </p:sp>
      <p:sp>
        <p:nvSpPr>
          <p:cNvPr id="20" name="c"/>
          <p:cNvSpPr/>
          <p:nvPr/>
        </p:nvSpPr>
        <p:spPr>
          <a:xfrm>
            <a:off x="8997696" y="5138928"/>
            <a:ext cx="2478024" cy="960120"/>
          </a:xfrm>
          <a:prstGeom prst="rect">
            <a:avLst/>
          </a:prstGeom>
          <a:solidFill>
            <a:srgbClr val="F4F7F9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p"/>
          <p:cNvSpPr/>
          <p:nvPr/>
        </p:nvSpPr>
        <p:spPr>
          <a:xfrm>
            <a:off x="8997696" y="5138928"/>
            <a:ext cx="2478024" cy="5029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n"/>
          <p:cNvSpPr txBox="1"/>
          <p:nvPr/>
        </p:nvSpPr>
        <p:spPr>
          <a:xfrm>
            <a:off x="9198864" y="5376672"/>
            <a:ext cx="207568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 spc="0">
                <a:solidFill>
                  <a:srgbClr val="C2410C"/>
                </a:solidFill>
                <a:latin typeface="Roboto"/>
                <a:cs typeface="Roboto"/>
              </a:rPr>
              <a:t>5</a:t>
            </a:r>
          </a:p>
        </p:txBody>
      </p:sp>
      <p:sp>
        <p:nvSpPr>
          <p:cNvPr id="23" name="l"/>
          <p:cNvSpPr txBox="1"/>
          <p:nvPr/>
        </p:nvSpPr>
        <p:spPr>
          <a:xfrm>
            <a:off x="9198864" y="5961888"/>
            <a:ext cx="2075688" cy="64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 spc="0">
                <a:solidFill>
                  <a:srgbClr val="5A6570"/>
                </a:solidFill>
                <a:latin typeface="Roboto"/>
                <a:cs typeface="Roboto"/>
              </a:rPr>
              <a:t>AI providers supported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PROGRESS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What we promised, and what we actually did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The five things our project proposal committed to, scored honestly.</a:t>
            </a:r>
          </a:p>
        </p:txBody>
      </p:sp>
      <p:graphicFrame>
        <p:nvGraphicFramePr>
          <p:cNvPr id="6" name="p"/>
          <p:cNvGraphicFramePr>
            <a:graphicFrameLocks noGrp="1"/>
          </p:cNvGraphicFramePr>
          <p:nvPr/>
        </p:nvGraphicFramePr>
        <p:xfrm>
          <a:off x="713232" y="2048256"/>
          <a:ext cx="10762488" cy="3712464"/>
        </p:xfrm>
        <a:graphic>
          <a:graphicData uri="http://schemas.openxmlformats.org/drawingml/2006/table">
            <a:tbl>
              <a:tblPr firstRow="1"/>
              <a:tblGrid>
                <a:gridCol w="3017520"/>
                <a:gridCol w="1417320"/>
                <a:gridCol w="6327648"/>
              </a:tblGrid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What we promised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Status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1" i="0" dirty="0" spc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What happened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0E6BA8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Better document search, including
relationship-aware search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Done, differently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We adopted an existing open-source search engine instead of building our own. Less code, and it is what let us give every assistant its own separate knowledge base.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 four-layer memory system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Half done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Memory across conversations works, and so does keeping recent messages in focus. Two of the four planned layers were not built.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Assistants that work as a team, with a
planner handing out tasks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Done, differently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We let an assistant call another assistant directly, as a tool. Simpler, and it removed a whole layer we would have had to maintain.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 recorded, auditable trail of
assistants talking to each other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Not done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Assistants do hand work to each other, but it is not written to a permanent audit log. This is the clearest thing we did not finish.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1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Replies that show the assistant's
thinking and can include components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Done, and more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20" b="0" i="0" dirty="0" spc="0">
                          <a:solidFill>
                            <a:srgbClr val="101418"/>
                          </a:solidFill>
                          <a:latin typeface="Roboto"/>
                          <a:cs typeface="Roboto"/>
                        </a:rPr>
                        <a:t>Thinking is shown live. We went further than planned and built full interactive forms, plus uploadable skill packs — neither was in the original scope.</a:t>
                      </a:r>
                    </a:p>
                  </a:txBody>
                  <a:tcPr marL="68580" marR="68580" marT="34290" marB="34290" anchor="ctr">
                    <a:lnB w="6350">
                      <a:solidFill>
                        <a:srgbClr val="DDE3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"/>
          <p:cNvSpPr/>
          <p:nvPr/>
        </p:nvSpPr>
        <p:spPr>
          <a:xfrm>
            <a:off x="713232" y="5760720"/>
            <a:ext cx="10765536" cy="530352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nb"/>
          <p:cNvSpPr/>
          <p:nvPr/>
        </p:nvSpPr>
        <p:spPr>
          <a:xfrm>
            <a:off x="713232" y="5760720"/>
            <a:ext cx="45720" cy="530352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nt"/>
          <p:cNvSpPr txBox="1"/>
          <p:nvPr/>
        </p:nvSpPr>
        <p:spPr>
          <a:xfrm>
            <a:off x="950976" y="5760720"/>
            <a:ext cx="10262616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 b="1" i="0" dirty="0" spc="0">
                <a:solidFill>
                  <a:srgbClr val="101418"/>
                </a:solidFill>
                <a:latin typeface="Roboto"/>
                <a:cs typeface="Roboto"/>
              </a:rPr>
              <a:t>Also built, and never promised: </a:t>
            </a:r>
            <a:r>
              <a:rPr lang="en-US" sz="1130" b="0" i="0" dirty="0" spc="0">
                <a:solidFill>
                  <a:srgbClr val="5A6570"/>
                </a:solidFill>
                <a:latin typeface="Roboto"/>
                <a:cs typeface="Roboto"/>
              </a:rPr>
              <a:t>access control, cost tracking, uploadable skill packs, provider management, and limits for public visitors.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PROGRESS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What comes next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In priority order, if the project continued.</a:t>
            </a:r>
          </a:p>
        </p:txBody>
      </p:sp>
      <p:sp>
        <p:nvSpPr>
          <p:cNvPr id="6" name="b"/>
          <p:cNvSpPr txBox="1"/>
          <p:nvPr/>
        </p:nvSpPr>
        <p:spPr>
          <a:xfrm>
            <a:off x="713232" y="2231136"/>
            <a:ext cx="521208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23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Measure the answer quality.</a:t>
            </a:r>
            <a:r>
              <a:rPr lang="en-US" sz="1200" b="0" i="0" dirty="0" spc="0">
                <a:solidFill>
                  <a:srgbClr val="5A6570"/>
                </a:solidFill>
                <a:latin typeface="Roboto"/>
                <a:cs typeface="Roboto"/>
              </a:rPr>
              <a:t> We set a target for how often answers stay faithful to the source documents, and have not yet run a formal test against it. This is the first thing we would do.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23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Record the audit trail.</a:t>
            </a:r>
            <a:r>
              <a:rPr lang="en-US" sz="1200" b="0" i="0" dirty="0" spc="0">
                <a:solidFill>
                  <a:srgbClr val="5A6570"/>
                </a:solidFill>
                <a:latin typeface="Roboto"/>
                <a:cs typeface="Roboto"/>
              </a:rPr>
              <a:t> Make assistant-to-assistant handovers permanently logged, as promised.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23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Finish the memory layers.</a:t>
            </a:r>
            <a:r>
              <a:rPr lang="en-US" sz="1200" b="0" i="0" dirty="0" spc="0">
                <a:solidFill>
                  <a:srgbClr val="5A6570"/>
                </a:solidFill>
                <a:latin typeface="Roboto"/>
                <a:cs typeface="Roboto"/>
              </a:rPr>
              <a:t> Summaries of past conversations, and knowledge shared across users.</a:t>
            </a:r>
          </a:p>
        </p:txBody>
      </p:sp>
      <p:sp>
        <p:nvSpPr>
          <p:cNvPr id="7" name="b"/>
          <p:cNvSpPr txBox="1"/>
          <p:nvPr/>
        </p:nvSpPr>
        <p:spPr>
          <a:xfrm>
            <a:off x="6355080" y="2231136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23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Version the skill packs.</a:t>
            </a:r>
            <a:r>
              <a:rPr lang="en-US" sz="1200" b="0" i="0" dirty="0" spc="0">
                <a:solidFill>
                  <a:srgbClr val="5A6570"/>
                </a:solidFill>
                <a:latin typeface="Roboto"/>
                <a:cs typeface="Roboto"/>
              </a:rPr>
              <a:t> Re-uploading one currently replaces it with no history and no warning.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23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Tidy the developer setup.</a:t>
            </a:r>
            <a:r>
              <a:rPr lang="en-US" sz="1200" b="0" i="0" dirty="0" spc="0">
                <a:solidFill>
                  <a:srgbClr val="5A6570"/>
                </a:solidFill>
                <a:latin typeface="Roboto"/>
                <a:cs typeface="Roboto"/>
              </a:rPr>
              <a:t> A new contributor cannot yet start the whole system with one command.</a:t>
            </a:r>
          </a:p>
          <a:p>
            <a:pPr algn="l" marL="219456" indent="-219456">
              <a:lnSpc>
                <a:spcPct val="106000"/>
              </a:lnSpc>
              <a:spcBef>
                <a:spcPts val="0"/>
              </a:spcBef>
              <a:spcAft>
                <a:spcPts val="230"/>
              </a:spcAft>
              <a:buClr>
                <a:srgbClr val="C2410C"/>
              </a:buClr>
              <a:buFont typeface="Arial"/>
              <a:buChar char="▪"/>
            </a:pPr>
            <a:r>
              <a:rPr lang="en-US" sz="1200" b="1" i="0" dirty="0" spc="0">
                <a:solidFill>
                  <a:srgbClr val="101418"/>
                </a:solidFill>
                <a:latin typeface="Roboto"/>
                <a:cs typeface="Roboto"/>
              </a:rPr>
              <a:t>Harden the public edges.</a:t>
            </a:r>
            <a:r>
              <a:rPr lang="en-US" sz="1200" b="0" i="0" dirty="0" spc="0">
                <a:solidFill>
                  <a:srgbClr val="5A6570"/>
                </a:solidFill>
                <a:latin typeface="Roboto"/>
                <a:cs typeface="Roboto"/>
              </a:rPr>
              <a:t> Uploaded packs are checked, but instructions hidden inside them remain an accepted risk we document rather than claim to have solved.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6B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b2"/>
          <p:cNvSpPr/>
          <p:nvPr/>
        </p:nvSpPr>
        <p:spPr>
          <a:xfrm>
            <a:off x="0" y="0"/>
            <a:ext cx="201168" cy="19202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"/>
          <p:cNvSpPr txBox="1"/>
          <p:nvPr/>
        </p:nvSpPr>
        <p:spPr>
          <a:xfrm>
            <a:off x="713232" y="14173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 spc="0">
                <a:solidFill>
                  <a:srgbClr val="101418"/>
                </a:solidFill>
                <a:latin typeface="Roboto"/>
                <a:cs typeface="Roboto"/>
              </a:rPr>
              <a:t>Thank you — questions</a:t>
            </a:r>
          </a:p>
        </p:txBody>
      </p:sp>
      <p:cxnSp>
        <p:nvCxnSpPr>
          <p:cNvPr id="5" name="r"/>
          <p:cNvCxnSpPr/>
          <p:nvPr/>
        </p:nvCxnSpPr>
        <p:spPr>
          <a:xfrm>
            <a:off x="713232" y="2487168"/>
            <a:ext cx="3657600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6" name="s"/>
          <p:cNvSpPr txBox="1"/>
          <p:nvPr/>
        </p:nvSpPr>
        <p:spPr>
          <a:xfrm>
            <a:off x="713232" y="2743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 spc="0">
                <a:solidFill>
                  <a:srgbClr val="0E6BA8"/>
                </a:solidFill>
                <a:latin typeface="Roboto"/>
                <a:cs typeface="Roboto"/>
              </a:rPr>
              <a:t>Three things worth taking away</a:t>
            </a:r>
          </a:p>
        </p:txBody>
      </p:sp>
      <p:sp>
        <p:nvSpPr>
          <p:cNvPr id="7" name="b"/>
          <p:cNvSpPr txBox="1"/>
          <p:nvPr/>
        </p:nvSpPr>
        <p:spPr>
          <a:xfrm>
            <a:off x="713232" y="3127248"/>
            <a:ext cx="1024128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19456" indent="-219456">
              <a:lnSpc>
                <a:spcPct val="104000"/>
              </a:lnSpc>
              <a:spcBef>
                <a:spcPts val="0"/>
              </a:spcBef>
              <a:spcAft>
                <a:spcPts val="18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300" b="1" i="0" dirty="0" spc="0">
                <a:solidFill>
                  <a:srgbClr val="101418"/>
                </a:solidFill>
                <a:latin typeface="Roboto"/>
                <a:cs typeface="Roboto"/>
              </a:rPr>
              <a:t>You set an assistant up, you don't build one. </a:t>
            </a: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Model, documents, tools and permissions are all settings in a browser.</a:t>
            </a:r>
          </a:p>
          <a:p>
            <a:pPr algn="l" marL="219456" indent="-219456">
              <a:lnSpc>
                <a:spcPct val="104000"/>
              </a:lnSpc>
              <a:spcBef>
                <a:spcPts val="0"/>
              </a:spcBef>
              <a:spcAft>
                <a:spcPts val="18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300" b="1" i="0" dirty="0" spc="0">
                <a:solidFill>
                  <a:srgbClr val="101418"/>
                </a:solidFill>
                <a:latin typeface="Roboto"/>
                <a:cs typeface="Roboto"/>
              </a:rPr>
              <a:t>It answers from your documents, and shows you where from. </a:t>
            </a: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And each assistant is limited to its own.</a:t>
            </a:r>
          </a:p>
          <a:p>
            <a:pPr algn="l" marL="219456" indent="-219456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E6BA8"/>
              </a:buClr>
              <a:buFont typeface="Arial"/>
              <a:buChar char="▪"/>
            </a:pPr>
            <a:r>
              <a:rPr lang="en-US" sz="1300" b="1" i="0" dirty="0" spc="0">
                <a:solidFill>
                  <a:srgbClr val="101418"/>
                </a:solidFill>
                <a:latin typeface="Roboto"/>
                <a:cs typeface="Roboto"/>
              </a:rPr>
              <a:t>It can reply with something you can use. </a:t>
            </a: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A working form, not a paragraph describing one.</a:t>
            </a:r>
          </a:p>
        </p:txBody>
      </p:sp>
      <p:sp>
        <p:nvSpPr>
          <p:cNvPr id="8" name="f"/>
          <p:cNvSpPr/>
          <p:nvPr/>
        </p:nvSpPr>
        <p:spPr>
          <a:xfrm>
            <a:off x="713232" y="5394960"/>
            <a:ext cx="10765536" cy="603504"/>
          </a:xfrm>
          <a:prstGeom prst="rect">
            <a:avLst/>
          </a:prstGeom>
          <a:solidFill>
            <a:srgbClr val="F4F7F9"/>
          </a:solidFill>
          <a:ln w="9525">
            <a:solidFill>
              <a:srgbClr val="DDE3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ft"/>
          <p:cNvSpPr txBox="1"/>
          <p:nvPr/>
        </p:nvSpPr>
        <p:spPr>
          <a:xfrm>
            <a:off x="950976" y="5394960"/>
            <a:ext cx="102900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 spc="0">
                <a:solidFill>
                  <a:srgbClr val="5A6570"/>
                </a:solidFill>
                <a:latin typeface="Roboto"/>
                <a:cs typeface="Roboto"/>
              </a:rPr>
              <a:t>Open source  ·  github.com/nashtech-garage/ntg-agent        Team QUOTA  ·  NashTech  ·  RMIT Capstone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APPENDIX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Demo fallback — the admin console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If a setup screen will not load during the demo, use these.</a:t>
            </a:r>
          </a:p>
        </p:txBody>
      </p:sp>
      <p:pic>
        <p:nvPicPr>
          <p:cNvPr id="6" name="dash"/>
          <p:cNvPicPr>
            <a:picLocks noChangeAspect="1"/>
          </p:cNvPicPr>
          <p:nvPr/>
        </p:nvPicPr>
        <p:blipFill>
          <a:blip r:embed="rId3"/>
          <a:srcRect l="15000" t="1124" r="25625" b="47191"/>
          <a:stretch>
            <a:fillRect/>
          </a:stretch>
        </p:blipFill>
        <p:spPr>
          <a:xfrm>
            <a:off x="713232" y="2249424"/>
            <a:ext cx="5120640" cy="2479467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cap"/>
          <p:cNvSpPr txBox="1"/>
          <p:nvPr/>
        </p:nvSpPr>
        <p:spPr>
          <a:xfrm>
            <a:off x="713232" y="4820331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The list of assistants — each with its status, owner and last change.</a:t>
            </a:r>
          </a:p>
        </p:txBody>
      </p:sp>
      <p:pic>
        <p:nvPicPr>
          <p:cNvPr id="8" name="tools"/>
          <p:cNvPicPr>
            <a:picLocks noChangeAspect="1"/>
          </p:cNvPicPr>
          <p:nvPr/>
        </p:nvPicPr>
        <p:blipFill>
          <a:blip r:embed="rId4"/>
          <a:srcRect l="17060" t="29444" r="30831" b="12222"/>
          <a:stretch>
            <a:fillRect/>
          </a:stretch>
        </p:blipFill>
        <p:spPr>
          <a:xfrm>
            <a:off x="6355080" y="2249424"/>
            <a:ext cx="3931920" cy="245745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9" name="cap"/>
          <p:cNvSpPr txBox="1"/>
          <p:nvPr/>
        </p:nvSpPr>
        <p:spPr>
          <a:xfrm>
            <a:off x="6355080" y="4798314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dirty="0" spc="0">
                <a:solidFill>
                  <a:srgbClr val="5A6570"/>
                </a:solidFill>
                <a:latin typeface="Roboto"/>
                <a:cs typeface="Roboto"/>
              </a:rPr>
              <a:t>Tools — each one is a switch, per assistant. Off means that assistant simply does not have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APPENDIX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References (1 of 2)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s"/>
          <p:cNvSpPr txBox="1"/>
          <p:nvPr/>
        </p:nvSpPr>
        <p:spPr>
          <a:xfrm>
            <a:off x="713232" y="1664208"/>
            <a:ext cx="107655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spc="0">
                <a:solidFill>
                  <a:srgbClr val="5A6570"/>
                </a:solidFill>
                <a:latin typeface="Roboto"/>
                <a:cs typeface="Roboto"/>
              </a:rPr>
              <a:t>IEEE style, as submitted in our capstone project proposal.</a:t>
            </a:r>
          </a:p>
        </p:txBody>
      </p:sp>
      <p:sp>
        <p:nvSpPr>
          <p:cNvPr id="6" name="r"/>
          <p:cNvSpPr txBox="1"/>
          <p:nvPr/>
        </p:nvSpPr>
        <p:spPr>
          <a:xfrm>
            <a:off x="713232" y="2084832"/>
            <a:ext cx="10765536" cy="420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101418"/>
                </a:solidFill>
                <a:latin typeface="Roboto"/>
                <a:cs typeface="Roboto"/>
              </a:rPr>
              <a:t>[1] P. Lewis et al., “Retrieval-Augmented Generation for Knowledge-Intensive NLP Tasks,” in Proc. NeurIPS, vol. 33, pp. 9459–9471, 2020.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[2] K. Shuster et al., “Retrieval Augmentation Reduces Hallucination in Conversation,” arXiv:2104.07567, 2021.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101418"/>
                </a:solidFill>
                <a:latin typeface="Roboto"/>
                <a:cs typeface="Roboto"/>
              </a:rPr>
              <a:t>[3] Y. Gao et al., “Retrieval-Augmented Generation for Large Language Models: A Survey,” arXiv:2312.10997, 2024.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[4] Microsoft, “Single agent vs. multiple agents,” Microsoft Learn.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101418"/>
                </a:solidFill>
                <a:latin typeface="Roboto"/>
                <a:cs typeface="Roboto"/>
              </a:rPr>
              <a:t>[5] Microsoft, “Agent handoff,” Microsoft Learn, Agent Framework workflows.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[6] “Manager–worker communication patterns,” Level Up – GitConnected.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101418"/>
                </a:solidFill>
                <a:latin typeface="Roboto"/>
                <a:cs typeface="Roboto"/>
              </a:rPr>
              <a:t>[7] Anthropic, “Introduction,” Model Context Protocol documentation.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[8] Z. Zhang et al., “A Survey on the Memory Mechanism of Large Language Model-based Agents,” arXiv:2404.13501, 2024.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101418"/>
                </a:solidFill>
                <a:latin typeface="Roboto"/>
                <a:cs typeface="Roboto"/>
              </a:rPr>
              <a:t>[9] H. Liu et al., “From Human Memory to AI Memory: A Survey on Memory Mechanisms in the Era of LLMs,” arXiv, 2024.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[10] C. Packer et al., “MemGPT: Towards LLMs as Operating Systems,” arXiv:2310.08560, 2023.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101418"/>
                </a:solidFill>
                <a:latin typeface="Roboto"/>
                <a:cs typeface="Roboto"/>
              </a:rPr>
              <a:t>[11] J. S. Park et al., “Generative Agents: Interactive Simulacra of Human Behavior,” in Proc. ACM UIST, 2023, pp. 1–22.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[12] Y. Wu et al., “Memory for Autonomous LLM Agents: Mechanisms, Evaluation, and Emerging Frontiers,” arXiv:2603.07670, 2025.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713232" y="457200"/>
            <a:ext cx="107655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 spc="180">
                <a:solidFill>
                  <a:srgbClr val="0E6BA8"/>
                </a:solidFill>
                <a:latin typeface="Roboto"/>
                <a:cs typeface="Roboto"/>
              </a:rPr>
              <a:t>APPENDIX</a:t>
            </a:r>
          </a:p>
        </p:txBody>
      </p:sp>
      <p:sp>
        <p:nvSpPr>
          <p:cNvPr id="3" name="t"/>
          <p:cNvSpPr txBox="1"/>
          <p:nvPr/>
        </p:nvSpPr>
        <p:spPr>
          <a:xfrm>
            <a:off x="713232" y="749808"/>
            <a:ext cx="107655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 spc="0">
                <a:solidFill>
                  <a:srgbClr val="101418"/>
                </a:solidFill>
                <a:latin typeface="Roboto"/>
                <a:cs typeface="Roboto"/>
              </a:rPr>
              <a:t>References (2 of 2)</a:t>
            </a:r>
          </a:p>
        </p:txBody>
      </p:sp>
      <p:cxnSp>
        <p:nvCxnSpPr>
          <p:cNvPr id="4" name="r"/>
          <p:cNvCxnSpPr/>
          <p:nvPr/>
        </p:nvCxnSpPr>
        <p:spPr>
          <a:xfrm>
            <a:off x="713232" y="1517904"/>
            <a:ext cx="10765536" cy="0"/>
          </a:xfrm>
          <a:prstGeom prst="line">
            <a:avLst/>
          </a:prstGeom>
          <a:ln w="9525">
            <a:solidFill>
              <a:srgbClr val="DDE3E8"/>
            </a:solidFill>
          </a:ln>
        </p:spPr>
      </p:cxnSp>
      <p:sp>
        <p:nvSpPr>
          <p:cNvPr id="5" name="r"/>
          <p:cNvSpPr txBox="1"/>
          <p:nvPr/>
        </p:nvSpPr>
        <p:spPr>
          <a:xfrm>
            <a:off x="713232" y="1865376"/>
            <a:ext cx="10765536" cy="420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101418"/>
                </a:solidFill>
                <a:latin typeface="Roboto"/>
                <a:cs typeface="Roboto"/>
              </a:rPr>
              <a:t>[13] R. Wang et al., “Rethinking Memory in LLM-based Agents: Representations, Operations, and Emerging Topics,” arXiv, 2024.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[14] NashTech Garage, “NTG.Agent.Orchestrator,” GitHub, 2026.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101418"/>
                </a:solidFill>
                <a:latin typeface="Roboto"/>
                <a:cs typeface="Roboto"/>
              </a:rPr>
              <a:t>[15] T. Schick et al., “Toolformer: Language Models Can Teach Themselves to Use Tools,” in Proc. NeurIPS, vol. 36, 2023.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[16] Anthropic, “Introducing the Model Context Protocol,” Anthropic Blog, Nov. 2024.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101418"/>
                </a:solidFill>
                <a:latin typeface="Roboto"/>
                <a:cs typeface="Roboto"/>
              </a:rPr>
              <a:t>[17] Anthropic, “Model Context Protocol Specification,” 2025.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[18] NashTech Garage, “NTG-Agent source code and DeepWiki documentation,” 2026.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101418"/>
                </a:solidFill>
                <a:latin typeface="Roboto"/>
                <a:cs typeface="Roboto"/>
              </a:rPr>
              <a:t>[19] “MCPTox: A Benchmark for Tool Poisoning Attack on Real-World MCP Servers,” arXiv, 2025.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[20] “MCPSecBench: A Systematic Security Benchmark and Playground for Testing Model Context Protocols,” arXiv, 2025.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101418"/>
                </a:solidFill>
                <a:latin typeface="Roboto"/>
                <a:cs typeface="Roboto"/>
              </a:rPr>
              <a:t>[21] OWASP, “OWASP Top 10 for Large Language Model Applications,” 2023.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5A6570"/>
                </a:solidFill>
                <a:latin typeface="Roboto"/>
                <a:cs typeface="Roboto"/>
              </a:rPr>
              <a:t>[22] Q. Wu et al., “AutoGen: Enabling Next-Gen LLM Applications via Multi-Agent Conversation,” arXiv:2308.08155, 2023.</a:t>
            </a:r>
          </a:p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en-US" sz="1020" b="0" i="0" dirty="0" spc="0">
                <a:solidFill>
                  <a:srgbClr val="101418"/>
                </a:solidFill>
                <a:latin typeface="Roboto"/>
                <a:cs typeface="Roboto"/>
              </a:rPr>
              <a:t>[23] L. Wang et al., “A Survey on Large Language Model based Autonomous Agents,” Front. Comput. Sci., vol. 18, no. 6,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G Agent">
  <a:themeElements>
    <a:clrScheme name="NTG">
      <a:dk1>
        <a:srgbClr val="101418"/>
      </a:dk1>
      <a:lt1>
        <a:srgbClr val="FFFFFF"/>
      </a:lt1>
      <a:dk2>
        <a:srgbClr val="5A6570"/>
      </a:dk2>
      <a:lt2>
        <a:srgbClr val="F4F7F9"/>
      </a:lt2>
      <a:accent1>
        <a:srgbClr val="0E6BA8"/>
      </a:accent1>
      <a:accent2>
        <a:srgbClr val="C2410C"/>
      </a:accent2>
      <a:accent3>
        <a:srgbClr val="1D8A6B"/>
      </a:accent3>
      <a:accent4>
        <a:srgbClr val="7C5CBF"/>
      </a:accent4>
      <a:accent5>
        <a:srgbClr val="B8860B"/>
      </a:accent5>
      <a:accent6>
        <a:srgbClr val="4A5568"/>
      </a:accent6>
      <a:hlink>
        <a:srgbClr val="0E6BA8"/>
      </a:hlink>
      <a:folHlink>
        <a:srgbClr val="7C5CBF"/>
      </a:folHlink>
    </a:clrScheme>
    <a:fontScheme name="NTG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NT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26</Slides>
  <Company>RMIT / NashTech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NTG Agent — Capstone Progress &amp; Accomplishments</dc:title>
  <dc:creator>Team QUOTA</dc:creator>
  <cp:lastModifiedBy>Team QUOTA</cp:lastModifiedBy>
  <dcterms:created xsi:type="dcterms:W3CDTF">2026-09-19T08:23:29Z</dcterms:created>
  <dcterms:modified xsi:type="dcterms:W3CDTF">2026-09-19T08:23:29Z</dcterms:modified>
</cp:coreProperties>
</file>